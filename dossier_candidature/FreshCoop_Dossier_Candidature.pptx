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12191695" cy="228600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645920"/>
            <a:ext cx="12191695" cy="914400"/>
          </a:xfrm>
          <a:prstGeom prst="rect">
            <a:avLst/>
          </a:prstGeom>
          <a:noFill/>
        </p:spPr>
        <p:txBody>
          <a:bodyPr wrap="square">
            <a:spAutoFit/>
          </a:bodyPr>
          <a:lstStyle/>
          <a:p>
            <a:pPr algn="ctr">
              <a:defRPr sz="4800" b="1">
                <a:solidFill>
                  <a:srgbClr val="FFFFFF"/>
                </a:solidFill>
                <a:latin typeface="Calibri"/>
              </a:defRPr>
            </a:pPr>
            <a:r>
              <a:t>FRESHCOOP</a:t>
            </a:r>
          </a:p>
        </p:txBody>
      </p:sp>
      <p:sp>
        <p:nvSpPr>
          <p:cNvPr id="4" name="TextBox 3"/>
          <p:cNvSpPr txBox="1"/>
          <p:nvPr/>
        </p:nvSpPr>
        <p:spPr>
          <a:xfrm>
            <a:off x="0" y="2286000"/>
            <a:ext cx="12191695" cy="548640"/>
          </a:xfrm>
          <a:prstGeom prst="rect">
            <a:avLst/>
          </a:prstGeom>
          <a:noFill/>
        </p:spPr>
        <p:txBody>
          <a:bodyPr wrap="square">
            <a:spAutoFit/>
          </a:bodyPr>
          <a:lstStyle/>
          <a:p>
            <a:pPr algn="ctr">
              <a:defRPr sz="1600" b="0">
                <a:solidFill>
                  <a:srgbClr val="FFFFFF"/>
                </a:solidFill>
                <a:latin typeface="Calibri"/>
              </a:defRPr>
            </a:pPr>
            <a:r>
              <a:t>La plateforme cooperative qui connecte les producteurs aux marches</a:t>
            </a:r>
          </a:p>
        </p:txBody>
      </p:sp>
      <p:sp>
        <p:nvSpPr>
          <p:cNvPr id="5" name="TextBox 4"/>
          <p:cNvSpPr txBox="1"/>
          <p:nvPr/>
        </p:nvSpPr>
        <p:spPr>
          <a:xfrm>
            <a:off x="0" y="2743200"/>
            <a:ext cx="12191695" cy="457200"/>
          </a:xfrm>
          <a:prstGeom prst="rect">
            <a:avLst/>
          </a:prstGeom>
          <a:noFill/>
        </p:spPr>
        <p:txBody>
          <a:bodyPr wrap="square">
            <a:spAutoFit/>
          </a:bodyPr>
          <a:lstStyle/>
          <a:p>
            <a:pPr algn="ctr">
              <a:defRPr sz="1200" b="1">
                <a:solidFill>
                  <a:srgbClr val="FFFFFF"/>
                </a:solidFill>
                <a:latin typeface="Calibri"/>
              </a:defRPr>
            </a:pPr>
            <a:r>
              <a:t>Micro-hubs solaires  |  Intelligence marche  |  Preuve economique</a:t>
            </a:r>
          </a:p>
        </p:txBody>
      </p:sp>
      <p:sp>
        <p:nvSpPr>
          <p:cNvPr id="6" name="TextBox 5"/>
          <p:cNvSpPr txBox="1"/>
          <p:nvPr/>
        </p:nvSpPr>
        <p:spPr>
          <a:xfrm>
            <a:off x="0" y="4114800"/>
            <a:ext cx="12191695" cy="548640"/>
          </a:xfrm>
          <a:prstGeom prst="rect">
            <a:avLst/>
          </a:prstGeom>
          <a:noFill/>
        </p:spPr>
        <p:txBody>
          <a:bodyPr wrap="square">
            <a:spAutoFit/>
          </a:bodyPr>
          <a:lstStyle/>
          <a:p>
            <a:pPr algn="ctr">
              <a:defRPr sz="2200" b="1">
                <a:solidFill>
                  <a:srgbClr val="1E1E1E"/>
                </a:solidFill>
                <a:latin typeface="Calibri"/>
              </a:defRPr>
            </a:pPr>
            <a:r>
              <a:t>Dossier de Candidature - Programme POESAM 2026</a:t>
            </a:r>
          </a:p>
        </p:txBody>
      </p:sp>
      <p:sp>
        <p:nvSpPr>
          <p:cNvPr id="7" name="TextBox 6"/>
          <p:cNvSpPr txBox="1"/>
          <p:nvPr/>
        </p:nvSpPr>
        <p:spPr>
          <a:xfrm>
            <a:off x="0" y="4846320"/>
            <a:ext cx="12191695" cy="457200"/>
          </a:xfrm>
          <a:prstGeom prst="rect">
            <a:avLst/>
          </a:prstGeom>
          <a:noFill/>
        </p:spPr>
        <p:txBody>
          <a:bodyPr wrap="square">
            <a:spAutoFit/>
          </a:bodyPr>
          <a:lstStyle/>
          <a:p>
            <a:pPr algn="ctr">
              <a:defRPr sz="1200" b="0">
                <a:solidFill>
                  <a:srgbClr val="646464"/>
                </a:solidFill>
                <a:latin typeface="Calibri"/>
              </a:defRPr>
            </a:pPr>
            <a:r>
              <a:t>FreshCoop SAS  |  Dakar, Senegal  |  AgriTech / FinTech / Impact Social  |  Mai 2026</a:t>
            </a:r>
          </a:p>
        </p:txBody>
      </p:sp>
      <p:sp>
        <p:nvSpPr>
          <p:cNvPr id="8" name="TextBox 7"/>
          <p:cNvSpPr txBox="1"/>
          <p:nvPr/>
        </p:nvSpPr>
        <p:spPr>
          <a:xfrm>
            <a:off x="0" y="5303520"/>
            <a:ext cx="12191695" cy="365760"/>
          </a:xfrm>
          <a:prstGeom prst="rect">
            <a:avLst/>
          </a:prstGeom>
          <a:noFill/>
        </p:spPr>
        <p:txBody>
          <a:bodyPr wrap="square">
            <a:spAutoFit/>
          </a:bodyPr>
          <a:lstStyle/>
          <a:p>
            <a:pPr algn="ctr">
              <a:defRPr sz="1100" b="0">
                <a:solidFill>
                  <a:srgbClr val="646464"/>
                </a:solidFill>
                <a:latin typeface="Calibri"/>
              </a:defRPr>
            </a:pPr>
            <a:r>
              <a:t>contact@freshcoop.sn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5486400" cy="457200"/>
          </a:xfrm>
          <a:prstGeom prst="rect">
            <a:avLst/>
          </a:prstGeom>
          <a:noFill/>
        </p:spPr>
        <p:txBody>
          <a:bodyPr wrap="square">
            <a:spAutoFit/>
          </a:bodyPr>
          <a:lstStyle/>
          <a:p>
            <a:pPr algn="l">
              <a:defRPr sz="2400" b="1">
                <a:solidFill>
                  <a:srgbClr val="FFFFFF"/>
                </a:solidFill>
                <a:latin typeface="Calibri"/>
              </a:defRPr>
            </a:pPr>
            <a:r>
              <a:t>SOMMAIRE</a:t>
            </a:r>
          </a:p>
        </p:txBody>
      </p:sp>
      <p:sp>
        <p:nvSpPr>
          <p:cNvPr id="4" name="TextBox 3"/>
          <p:cNvSpPr txBox="1"/>
          <p:nvPr/>
        </p:nvSpPr>
        <p:spPr>
          <a:xfrm>
            <a:off x="457200" y="1371600"/>
            <a:ext cx="5486400" cy="4572000"/>
          </a:xfrm>
          <a:prstGeom prst="rect">
            <a:avLst/>
          </a:prstGeom>
          <a:noFill/>
        </p:spPr>
        <p:txBody>
          <a:bodyPr wrap="square">
            <a:spAutoFit/>
          </a:bodyPr>
          <a:lstStyle/>
          <a:p>
            <a:pPr>
              <a:spcAft>
                <a:spcPts val="600"/>
              </a:spcAft>
              <a:defRPr sz="1400">
                <a:solidFill>
                  <a:srgbClr val="1E1E1E"/>
                </a:solidFill>
                <a:latin typeface="Calibri"/>
              </a:defRPr>
              <a:buChar char="•"/>
            </a:pPr>
            <a:r>
              <a:t>1. Resume executif</a:t>
            </a:r>
          </a:p>
          <a:p>
            <a:pPr>
              <a:spcAft>
                <a:spcPts val="600"/>
              </a:spcAft>
              <a:defRPr sz="1400">
                <a:solidFill>
                  <a:srgbClr val="1E1E1E"/>
                </a:solidFill>
                <a:latin typeface="Calibri"/>
              </a:defRPr>
              <a:buChar char="•"/>
            </a:pPr>
            <a:r>
              <a:t>2. Probleme identifie</a:t>
            </a:r>
          </a:p>
          <a:p>
            <a:pPr>
              <a:spcAft>
                <a:spcPts val="600"/>
              </a:spcAft>
              <a:defRPr sz="1400">
                <a:solidFill>
                  <a:srgbClr val="1E1E1E"/>
                </a:solidFill>
                <a:latin typeface="Calibri"/>
              </a:defRPr>
              <a:buChar char="•"/>
            </a:pPr>
            <a:r>
              <a:t>3. Solution proposee : FreshCoop</a:t>
            </a:r>
          </a:p>
          <a:p>
            <a:pPr>
              <a:spcAft>
                <a:spcPts val="600"/>
              </a:spcAft>
              <a:defRPr sz="1400">
                <a:solidFill>
                  <a:srgbClr val="1E1E1E"/>
                </a:solidFill>
                <a:latin typeface="Calibri"/>
              </a:defRPr>
              <a:buChar char="•"/>
            </a:pPr>
            <a:r>
              <a:t>4. Analyse du marche et des concurrents</a:t>
            </a:r>
          </a:p>
          <a:p>
            <a:pPr>
              <a:spcAft>
                <a:spcPts val="600"/>
              </a:spcAft>
              <a:defRPr sz="1400">
                <a:solidFill>
                  <a:srgbClr val="1E1E1E"/>
                </a:solidFill>
                <a:latin typeface="Calibri"/>
              </a:defRPr>
              <a:buChar char="•"/>
            </a:pPr>
            <a:r>
              <a:t>5. Produit et fonctionnalites</a:t>
            </a:r>
          </a:p>
          <a:p>
            <a:pPr>
              <a:spcAft>
                <a:spcPts val="600"/>
              </a:spcAft>
              <a:defRPr sz="1400">
                <a:solidFill>
                  <a:srgbClr val="1E1E1E"/>
                </a:solidFill>
                <a:latin typeface="Calibri"/>
              </a:defRPr>
              <a:buChar char="•"/>
            </a:pPr>
            <a:r>
              <a:t>6. Equipe et competences cles</a:t>
            </a:r>
          </a:p>
          <a:p>
            <a:pPr>
              <a:spcAft>
                <a:spcPts val="600"/>
              </a:spcAft>
              <a:defRPr sz="1400">
                <a:solidFill>
                  <a:srgbClr val="1E1E1E"/>
                </a:solidFill>
                <a:latin typeface="Calibri"/>
              </a:defRPr>
              <a:buChar char="•"/>
            </a:pPr>
            <a:r>
              <a:t>7. Modele economique</a:t>
            </a:r>
          </a:p>
        </p:txBody>
      </p:sp>
      <p:sp>
        <p:nvSpPr>
          <p:cNvPr id="5" name="TextBox 4"/>
          <p:cNvSpPr txBox="1"/>
          <p:nvPr/>
        </p:nvSpPr>
        <p:spPr>
          <a:xfrm>
            <a:off x="6217920" y="1371600"/>
            <a:ext cx="5486400" cy="4572000"/>
          </a:xfrm>
          <a:prstGeom prst="rect">
            <a:avLst/>
          </a:prstGeom>
          <a:noFill/>
        </p:spPr>
        <p:txBody>
          <a:bodyPr wrap="square">
            <a:spAutoFit/>
          </a:bodyPr>
          <a:lstStyle/>
          <a:p>
            <a:pPr>
              <a:spcAft>
                <a:spcPts val="600"/>
              </a:spcAft>
              <a:defRPr sz="1400">
                <a:solidFill>
                  <a:srgbClr val="1E1E1E"/>
                </a:solidFill>
                <a:latin typeface="Calibri"/>
              </a:defRPr>
              <a:buChar char="•"/>
            </a:pPr>
            <a:r>
              <a:t>8. Previsions financieres sur 3 ans</a:t>
            </a:r>
          </a:p>
          <a:p>
            <a:pPr>
              <a:spcAft>
                <a:spcPts val="600"/>
              </a:spcAft>
              <a:defRPr sz="1400">
                <a:solidFill>
                  <a:srgbClr val="1E1E1E"/>
                </a:solidFill>
                <a:latin typeface="Calibri"/>
              </a:defRPr>
              <a:buChar char="•"/>
            </a:pPr>
            <a:r>
              <a:t>9. Utilisation du financement</a:t>
            </a:r>
          </a:p>
          <a:p>
            <a:pPr>
              <a:spcAft>
                <a:spcPts val="600"/>
              </a:spcAft>
              <a:defRPr sz="1400">
                <a:solidFill>
                  <a:srgbClr val="1E1E1E"/>
                </a:solidFill>
                <a:latin typeface="Calibri"/>
              </a:defRPr>
              <a:buChar char="•"/>
            </a:pPr>
            <a:r>
              <a:t>10. Impact social et environnemental</a:t>
            </a:r>
          </a:p>
          <a:p>
            <a:pPr>
              <a:spcAft>
                <a:spcPts val="600"/>
              </a:spcAft>
              <a:defRPr sz="1400">
                <a:solidFill>
                  <a:srgbClr val="1E1E1E"/>
                </a:solidFill>
                <a:latin typeface="Calibri"/>
              </a:defRPr>
              <a:buChar char="•"/>
            </a:pPr>
            <a:r>
              <a:t>11. Strategie d'innovation et de croissance</a:t>
            </a:r>
          </a:p>
          <a:p>
            <a:pPr>
              <a:spcAft>
                <a:spcPts val="600"/>
              </a:spcAft>
              <a:defRPr sz="1400">
                <a:solidFill>
                  <a:srgbClr val="1E1E1E"/>
                </a:solidFill>
                <a:latin typeface="Calibri"/>
              </a:defRPr>
              <a:buChar char="•"/>
            </a:pPr>
            <a:r>
              <a:t>12. Objectifs du pilote POESAM</a:t>
            </a:r>
          </a:p>
          <a:p>
            <a:pPr>
              <a:spcAft>
                <a:spcPts val="600"/>
              </a:spcAft>
              <a:defRPr sz="1400">
                <a:solidFill>
                  <a:srgbClr val="1E1E1E"/>
                </a:solidFill>
                <a:latin typeface="Calibri"/>
              </a:defRPr>
              <a:buChar char="•"/>
            </a:pPr>
            <a:r>
              <a:t>13.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1. RESUME EXECUTIF</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188720"/>
            <a:ext cx="10972800" cy="1097280"/>
          </a:xfrm>
          <a:prstGeom prst="rect">
            <a:avLst/>
          </a:prstGeom>
          <a:noFill/>
        </p:spPr>
        <p:txBody>
          <a:bodyPr wrap="square">
            <a:spAutoFit/>
          </a:bodyPr>
          <a:lstStyle/>
          <a:p>
            <a:pPr algn="l">
              <a:defRPr sz="1300" b="0">
                <a:solidFill>
                  <a:srgbClr val="1E1E1E"/>
                </a:solidFill>
                <a:latin typeface="Calibri"/>
              </a:defRPr>
            </a:pPr>
            <a:r>
              <a:t>FreshCoop est une plateforme agri-tech cooperative concue au Senegal pour resoudre trois defis majeurs auxquels font face les petits producteurs agricoles : les pertes post-recolte massives (estimees a 40%), l'absence de tracabilite des transactions, et un acces au credit formel quasi inexistant (moins de 5%).</a:t>
            </a:r>
          </a:p>
        </p:txBody>
      </p:sp>
      <p:sp>
        <p:nvSpPr>
          <p:cNvPr id="6" name="TextBox 5"/>
          <p:cNvSpPr txBox="1"/>
          <p:nvPr/>
        </p:nvSpPr>
        <p:spPr>
          <a:xfrm>
            <a:off x="457200" y="2377440"/>
            <a:ext cx="10972800" cy="365760"/>
          </a:xfrm>
          <a:prstGeom prst="rect">
            <a:avLst/>
          </a:prstGeom>
          <a:noFill/>
        </p:spPr>
        <p:txBody>
          <a:bodyPr wrap="square">
            <a:spAutoFit/>
          </a:bodyPr>
          <a:lstStyle/>
          <a:p>
            <a:pPr algn="l">
              <a:defRPr sz="1400" b="1">
                <a:solidFill>
                  <a:srgbClr val="228B22"/>
                </a:solidFill>
                <a:latin typeface="Calibri"/>
              </a:defRPr>
            </a:pPr>
            <a:r>
              <a:t>Trois piliers complementaires :</a:t>
            </a:r>
          </a:p>
        </p:txBody>
      </p:sp>
      <p:sp>
        <p:nvSpPr>
          <p:cNvPr id="7" name="TextBox 6"/>
          <p:cNvSpPr txBox="1"/>
          <p:nvPr/>
        </p:nvSpPr>
        <p:spPr>
          <a:xfrm>
            <a:off x="457200" y="2834640"/>
            <a:ext cx="10972800" cy="1371600"/>
          </a:xfrm>
          <a:prstGeom prst="rect">
            <a:avLst/>
          </a:prstGeom>
          <a:noFill/>
        </p:spPr>
        <p:txBody>
          <a:bodyPr wrap="square">
            <a:spAutoFit/>
          </a:bodyPr>
          <a:lstStyle/>
          <a:p>
            <a:pPr>
              <a:spcAft>
                <a:spcPts val="600"/>
              </a:spcAft>
              <a:defRPr sz="1300">
                <a:solidFill>
                  <a:srgbClr val="1E1E1E"/>
                </a:solidFill>
                <a:latin typeface="Calibri"/>
              </a:defRPr>
              <a:buChar char="•"/>
            </a:pPr>
            <a:r>
              <a:t>Des micro-hubs frigorifiques solaires partages pour reduire les pertes post-recolte</a:t>
            </a:r>
          </a:p>
          <a:p>
            <a:pPr>
              <a:spcAft>
                <a:spcPts val="600"/>
              </a:spcAft>
              <a:defRPr sz="1300">
                <a:solidFill>
                  <a:srgbClr val="1E1E1E"/>
                </a:solidFill>
                <a:latin typeface="Calibri"/>
              </a:defRPr>
              <a:buChar char="•"/>
            </a:pPr>
            <a:r>
              <a:t>Un systeme d'intelligence marche qui oriente chaque lot vers le meilleur debouche</a:t>
            </a:r>
          </a:p>
          <a:p>
            <a:pPr>
              <a:spcAft>
                <a:spcPts val="600"/>
              </a:spcAft>
              <a:defRPr sz="1300">
                <a:solidFill>
                  <a:srgbClr val="1E1E1E"/>
                </a:solidFill>
                <a:latin typeface="Calibri"/>
              </a:defRPr>
              <a:buChar char="•"/>
            </a:pPr>
            <a:r>
              <a:t>Une preuve economique portable permettant aux producteurs d'acceder au credit formel</a:t>
            </a:r>
          </a:p>
        </p:txBody>
      </p:sp>
      <p:sp>
        <p:nvSpPr>
          <p:cNvPr id="8" name="TextBox 7"/>
          <p:cNvSpPr txBox="1"/>
          <p:nvPr/>
        </p:nvSpPr>
        <p:spPr>
          <a:xfrm>
            <a:off x="457200" y="4389120"/>
            <a:ext cx="10972800" cy="1371600"/>
          </a:xfrm>
          <a:prstGeom prst="rect">
            <a:avLst/>
          </a:prstGeom>
          <a:noFill/>
        </p:spPr>
        <p:txBody>
          <a:bodyPr wrap="square">
            <a:spAutoFit/>
          </a:bodyPr>
          <a:lstStyle/>
          <a:p>
            <a:pPr algn="l">
              <a:defRPr sz="1200" b="0">
                <a:solidFill>
                  <a:srgbClr val="3C3C3C"/>
                </a:solidFill>
                <a:latin typeface="Calibri"/>
              </a:defRPr>
            </a:pPr>
            <a:r>
              <a:t>FreshCoop connecte producteurs, acheteurs B2B, transporteurs, agents de terrain et partenaires financiers dans un ecosysteme transparent, inclusif et consent-driven. La plateforme est disponible en version web, mobile (iOS/Android) et USSD (*384*FRES#) pour garantir l'accessibilite a tous, y compris les 70% de producteurs sans smartphone.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2. PROBLEME IDENTIFIE</a:t>
            </a:r>
          </a:p>
        </p:txBody>
      </p:sp>
      <p:sp>
        <p:nvSpPr>
          <p:cNvPr id="4" name="TextBox 3"/>
          <p:cNvSpPr txBox="1"/>
          <p:nvPr/>
        </p:nvSpPr>
        <p:spPr>
          <a:xfrm>
            <a:off x="457200" y="1188720"/>
            <a:ext cx="10972800" cy="548640"/>
          </a:xfrm>
          <a:prstGeom prst="rect">
            <a:avLst/>
          </a:prstGeom>
          <a:noFill/>
        </p:spPr>
        <p:txBody>
          <a:bodyPr wrap="square">
            <a:spAutoFit/>
          </a:bodyPr>
          <a:lstStyle/>
          <a:p>
            <a:pPr algn="l">
              <a:defRPr sz="1400" b="0">
                <a:solidFill>
                  <a:srgbClr val="646464"/>
                </a:solidFill>
                <a:latin typeface="Calibri"/>
              </a:defRPr>
            </a:pPr>
            <a:r>
              <a:t>L'agriculture senegalaise emploie plus de 60% de la population active, mais les petits producteurs restent pieges dans un cercle vicieux de pertes, d'invisibilite economique et d'exclusion financiere.</a:t>
            </a:r>
          </a:p>
        </p:txBody>
      </p:sp>
      <p:sp>
        <p:nvSpPr>
          <p:cNvPr id="5" name="TextBox 4"/>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6" name="Rounded Rectangle 5"/>
          <p:cNvSpPr/>
          <p:nvPr/>
        </p:nvSpPr>
        <p:spPr>
          <a:xfrm>
            <a:off x="457200" y="2011680"/>
            <a:ext cx="11247120" cy="11887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10515600" cy="274320"/>
          </a:xfrm>
          <a:prstGeom prst="rect">
            <a:avLst/>
          </a:prstGeom>
          <a:noFill/>
        </p:spPr>
        <p:txBody>
          <a:bodyPr wrap="square">
            <a:spAutoFit/>
          </a:bodyPr>
          <a:lstStyle/>
          <a:p>
            <a:pPr algn="l">
              <a:defRPr sz="1400" b="1">
                <a:solidFill>
                  <a:srgbClr val="228B22"/>
                </a:solidFill>
                <a:latin typeface="Calibri"/>
              </a:defRPr>
            </a:pPr>
            <a:r>
              <a:t>Pertes post-recolte massives</a:t>
            </a:r>
          </a:p>
        </p:txBody>
      </p:sp>
      <p:sp>
        <p:nvSpPr>
          <p:cNvPr id="8" name="TextBox 7"/>
          <p:cNvSpPr txBox="1"/>
          <p:nvPr/>
        </p:nvSpPr>
        <p:spPr>
          <a:xfrm>
            <a:off x="731520" y="2468880"/>
            <a:ext cx="10515600" cy="640080"/>
          </a:xfrm>
          <a:prstGeom prst="rect">
            <a:avLst/>
          </a:prstGeom>
          <a:noFill/>
        </p:spPr>
        <p:txBody>
          <a:bodyPr wrap="square">
            <a:spAutoFit/>
          </a:bodyPr>
          <a:lstStyle/>
          <a:p>
            <a:pPr algn="l">
              <a:defRPr sz="1100" b="0">
                <a:solidFill>
                  <a:srgbClr val="3C3C3C"/>
                </a:solidFill>
                <a:latin typeface="Calibri"/>
              </a:defRPr>
            </a:pPr>
            <a:r>
              <a:t>Au Senegal, pres de 40% des fruits et legumes produits sont perdus apres la recolte. L'absence d'infrastructures de stockage frigorifique, la logistique defaillante et le manque d'acces rapide aux canaux de vente entrainent la deterioration des produits avant qu'ils n'atteignent le consommateur.</a:t>
            </a:r>
          </a:p>
        </p:txBody>
      </p:sp>
      <p:sp>
        <p:nvSpPr>
          <p:cNvPr id="9" name="Rounded Rectangle 8"/>
          <p:cNvSpPr/>
          <p:nvPr/>
        </p:nvSpPr>
        <p:spPr>
          <a:xfrm>
            <a:off x="457200" y="3383280"/>
            <a:ext cx="11247120" cy="11887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474720"/>
            <a:ext cx="10515600" cy="274320"/>
          </a:xfrm>
          <a:prstGeom prst="rect">
            <a:avLst/>
          </a:prstGeom>
          <a:noFill/>
        </p:spPr>
        <p:txBody>
          <a:bodyPr wrap="square">
            <a:spAutoFit/>
          </a:bodyPr>
          <a:lstStyle/>
          <a:p>
            <a:pPr algn="l">
              <a:defRPr sz="1400" b="1">
                <a:solidFill>
                  <a:srgbClr val="228B22"/>
                </a:solidFill>
                <a:latin typeface="Calibri"/>
              </a:defRPr>
            </a:pPr>
            <a:r>
              <a:t>Absence de tracabilite</a:t>
            </a:r>
          </a:p>
        </p:txBody>
      </p:sp>
      <p:sp>
        <p:nvSpPr>
          <p:cNvPr id="11" name="TextBox 10"/>
          <p:cNvSpPr txBox="1"/>
          <p:nvPr/>
        </p:nvSpPr>
        <p:spPr>
          <a:xfrm>
            <a:off x="731520" y="3840480"/>
            <a:ext cx="10515600" cy="640080"/>
          </a:xfrm>
          <a:prstGeom prst="rect">
            <a:avLst/>
          </a:prstGeom>
          <a:noFill/>
        </p:spPr>
        <p:txBody>
          <a:bodyPr wrap="square">
            <a:spAutoFit/>
          </a:bodyPr>
          <a:lstStyle/>
          <a:p>
            <a:pPr algn="l">
              <a:defRPr sz="1100" b="0">
                <a:solidFill>
                  <a:srgbClr val="3C3C3C"/>
                </a:solidFill>
                <a:latin typeface="Calibri"/>
              </a:defRPr>
            </a:pPr>
            <a:r>
              <a:t>Les transactions dans les marches agricoles informels ne laissent aucune trace exploitable. Les producteurs n'ont aucun historique prouvable de leur activite commerciale, ce qui les rend invisibles aux yeux des institutions financieres.</a:t>
            </a:r>
          </a:p>
        </p:txBody>
      </p:sp>
      <p:sp>
        <p:nvSpPr>
          <p:cNvPr id="12" name="Rounded Rectangle 11"/>
          <p:cNvSpPr/>
          <p:nvPr/>
        </p:nvSpPr>
        <p:spPr>
          <a:xfrm>
            <a:off x="457200" y="4754880"/>
            <a:ext cx="11247120" cy="11887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46320"/>
            <a:ext cx="10515600" cy="274320"/>
          </a:xfrm>
          <a:prstGeom prst="rect">
            <a:avLst/>
          </a:prstGeom>
          <a:noFill/>
        </p:spPr>
        <p:txBody>
          <a:bodyPr wrap="square">
            <a:spAutoFit/>
          </a:bodyPr>
          <a:lstStyle/>
          <a:p>
            <a:pPr algn="l">
              <a:defRPr sz="1400" b="1">
                <a:solidFill>
                  <a:srgbClr val="228B22"/>
                </a:solidFill>
                <a:latin typeface="Calibri"/>
              </a:defRPr>
            </a:pPr>
            <a:r>
              <a:t>Exclusion financiere</a:t>
            </a:r>
          </a:p>
        </p:txBody>
      </p:sp>
      <p:sp>
        <p:nvSpPr>
          <p:cNvPr id="14" name="TextBox 13"/>
          <p:cNvSpPr txBox="1"/>
          <p:nvPr/>
        </p:nvSpPr>
        <p:spPr>
          <a:xfrm>
            <a:off x="731520" y="5212080"/>
            <a:ext cx="10515600" cy="640080"/>
          </a:xfrm>
          <a:prstGeom prst="rect">
            <a:avLst/>
          </a:prstGeom>
          <a:noFill/>
        </p:spPr>
        <p:txBody>
          <a:bodyPr wrap="square">
            <a:spAutoFit/>
          </a:bodyPr>
          <a:lstStyle/>
          <a:p>
            <a:pPr algn="l">
              <a:defRPr sz="1100" b="0">
                <a:solidFill>
                  <a:srgbClr val="3C3C3C"/>
                </a:solidFill>
                <a:latin typeface="Calibri"/>
              </a:defRPr>
            </a:pPr>
            <a:r>
              <a:t>Moins de 5% des petits producteurs senegalais ont acces au credit formel. Sans preuves d'activite economique, les banques et les systemes financiers decentralises (SFD) ne peuvent evaluer leur solvabilite.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3. SOLUTION PROPOSEE : FRESHCOOP</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188720"/>
            <a:ext cx="10972800" cy="457200"/>
          </a:xfrm>
          <a:prstGeom prst="rect">
            <a:avLst/>
          </a:prstGeom>
          <a:noFill/>
        </p:spPr>
        <p:txBody>
          <a:bodyPr wrap="square">
            <a:spAutoFit/>
          </a:bodyPr>
          <a:lstStyle/>
          <a:p>
            <a:pPr algn="l">
              <a:defRPr sz="1300" b="0">
                <a:solidFill>
                  <a:srgbClr val="3C3C3C"/>
                </a:solidFill>
                <a:latin typeface="Calibri"/>
              </a:defRPr>
            </a:pPr>
            <a:r>
              <a:t>FreshCoop repond a ces trois defis avec une plateforme integree qui couvre l'ensemble de la chaine de valeur agricole, de la recolte au financement.</a:t>
            </a:r>
          </a:p>
        </p:txBody>
      </p:sp>
      <p:sp>
        <p:nvSpPr>
          <p:cNvPr id="6" name="Rounded Rectangle 5"/>
          <p:cNvSpPr/>
          <p:nvPr/>
        </p:nvSpPr>
        <p:spPr>
          <a:xfrm>
            <a:off x="365760" y="2011680"/>
            <a:ext cx="2743200" cy="384048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94560"/>
            <a:ext cx="2468880" cy="457200"/>
          </a:xfrm>
          <a:prstGeom prst="rect">
            <a:avLst/>
          </a:prstGeom>
          <a:noFill/>
        </p:spPr>
        <p:txBody>
          <a:bodyPr wrap="square">
            <a:spAutoFit/>
          </a:bodyPr>
          <a:lstStyle/>
          <a:p>
            <a:pPr algn="ctr">
              <a:defRPr sz="1300" b="1">
                <a:solidFill>
                  <a:srgbClr val="228B22"/>
                </a:solidFill>
                <a:latin typeface="Calibri"/>
              </a:defRPr>
            </a:pPr>
            <a:r>
              <a:t>Micro-hubs frigorifiques solaires</a:t>
            </a:r>
          </a:p>
        </p:txBody>
      </p:sp>
      <p:sp>
        <p:nvSpPr>
          <p:cNvPr id="8" name="TextBox 7"/>
          <p:cNvSpPr txBox="1"/>
          <p:nvPr/>
        </p:nvSpPr>
        <p:spPr>
          <a:xfrm>
            <a:off x="502920" y="2743200"/>
            <a:ext cx="2468880" cy="2926080"/>
          </a:xfrm>
          <a:prstGeom prst="rect">
            <a:avLst/>
          </a:prstGeom>
          <a:noFill/>
        </p:spPr>
        <p:txBody>
          <a:bodyPr wrap="square">
            <a:spAutoFit/>
          </a:bodyPr>
          <a:lstStyle/>
          <a:p>
            <a:pPr algn="l">
              <a:defRPr sz="1000" b="0">
                <a:solidFill>
                  <a:srgbClr val="3C3C3C"/>
                </a:solidFill>
                <a:latin typeface="Calibri"/>
              </a:defRPr>
            </a:pPr>
            <a:r>
              <a:t>Des unites de stockage frigorifique alimentees a l'energie solaire, partagees entre plusieurs producteurs d'une meme zone. Chaque hub est equipe de capteurs IoT surveillant en temps reel la temperature, la capacite, le niveau de batterie et l'etat des stocks.</a:t>
            </a:r>
          </a:p>
        </p:txBody>
      </p:sp>
      <p:sp>
        <p:nvSpPr>
          <p:cNvPr id="9" name="Rounded Rectangle 8"/>
          <p:cNvSpPr/>
          <p:nvPr/>
        </p:nvSpPr>
        <p:spPr>
          <a:xfrm>
            <a:off x="3246120" y="2011680"/>
            <a:ext cx="2743200" cy="384048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79" y="2194560"/>
            <a:ext cx="2468880" cy="457200"/>
          </a:xfrm>
          <a:prstGeom prst="rect">
            <a:avLst/>
          </a:prstGeom>
          <a:noFill/>
        </p:spPr>
        <p:txBody>
          <a:bodyPr wrap="square">
            <a:spAutoFit/>
          </a:bodyPr>
          <a:lstStyle/>
          <a:p>
            <a:pPr algn="ctr">
              <a:defRPr sz="1300" b="1">
                <a:solidFill>
                  <a:srgbClr val="228B22"/>
                </a:solidFill>
                <a:latin typeface="Calibri"/>
              </a:defRPr>
            </a:pPr>
            <a:r>
              <a:t>Intelligence marche</a:t>
            </a:r>
          </a:p>
        </p:txBody>
      </p:sp>
      <p:sp>
        <p:nvSpPr>
          <p:cNvPr id="11" name="TextBox 10"/>
          <p:cNvSpPr txBox="1"/>
          <p:nvPr/>
        </p:nvSpPr>
        <p:spPr>
          <a:xfrm>
            <a:off x="3383279" y="2743200"/>
            <a:ext cx="2468880" cy="2926080"/>
          </a:xfrm>
          <a:prstGeom prst="rect">
            <a:avLst/>
          </a:prstGeom>
          <a:noFill/>
        </p:spPr>
        <p:txBody>
          <a:bodyPr wrap="square">
            <a:spAutoFit/>
          </a:bodyPr>
          <a:lstStyle/>
          <a:p>
            <a:pPr algn="l">
              <a:defRPr sz="1000" b="0">
                <a:solidFill>
                  <a:srgbClr val="3C3C3C"/>
                </a:solidFill>
                <a:latin typeface="Calibri"/>
              </a:defRPr>
            </a:pPr>
            <a:r>
              <a:t>Un algorithme d'orientation intelligent analyse pour chaque lot : le prix du marche, la demande locale, le score de confiance des acheteurs et la fenetre de consommation optimale. Il recommande le meilleur debouche pour maximiser les revenus du producteur.</a:t>
            </a:r>
          </a:p>
        </p:txBody>
      </p:sp>
      <p:sp>
        <p:nvSpPr>
          <p:cNvPr id="12" name="Rounded Rectangle 11"/>
          <p:cNvSpPr/>
          <p:nvPr/>
        </p:nvSpPr>
        <p:spPr>
          <a:xfrm>
            <a:off x="6126480" y="2011680"/>
            <a:ext cx="2743200" cy="384048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2194560"/>
            <a:ext cx="2468880" cy="457200"/>
          </a:xfrm>
          <a:prstGeom prst="rect">
            <a:avLst/>
          </a:prstGeom>
          <a:noFill/>
        </p:spPr>
        <p:txBody>
          <a:bodyPr wrap="square">
            <a:spAutoFit/>
          </a:bodyPr>
          <a:lstStyle/>
          <a:p>
            <a:pPr algn="ctr">
              <a:defRPr sz="1300" b="1">
                <a:solidFill>
                  <a:srgbClr val="228B22"/>
                </a:solidFill>
                <a:latin typeface="Calibri"/>
              </a:defRPr>
            </a:pPr>
            <a:r>
              <a:t>Preuve economique portable</a:t>
            </a:r>
          </a:p>
        </p:txBody>
      </p:sp>
      <p:sp>
        <p:nvSpPr>
          <p:cNvPr id="14" name="TextBox 13"/>
          <p:cNvSpPr txBox="1"/>
          <p:nvPr/>
        </p:nvSpPr>
        <p:spPr>
          <a:xfrm>
            <a:off x="6263640" y="2743200"/>
            <a:ext cx="2468880" cy="2926080"/>
          </a:xfrm>
          <a:prstGeom prst="rect">
            <a:avLst/>
          </a:prstGeom>
          <a:noFill/>
        </p:spPr>
        <p:txBody>
          <a:bodyPr wrap="square">
            <a:spAutoFit/>
          </a:bodyPr>
          <a:lstStyle/>
          <a:p>
            <a:pPr algn="l">
              <a:defRPr sz="1000" b="0">
                <a:solidFill>
                  <a:srgbClr val="3C3C3C"/>
                </a:solidFill>
                <a:latin typeface="Calibri"/>
              </a:defRPr>
            </a:pPr>
            <a:r>
              <a:t>Chaque transaction realisee via FreshCoop genere une preuve economique numerique verifiable. Les producteurs constituent un dossier de bancabilite portable : historique de ventes, relations acheteurs, paiements recus, volumes traites.</a:t>
            </a:r>
          </a:p>
        </p:txBody>
      </p:sp>
      <p:sp>
        <p:nvSpPr>
          <p:cNvPr id="15" name="Rounded Rectangle 14"/>
          <p:cNvSpPr/>
          <p:nvPr/>
        </p:nvSpPr>
        <p:spPr>
          <a:xfrm>
            <a:off x="9006840" y="2011680"/>
            <a:ext cx="2743200" cy="384048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194560"/>
            <a:ext cx="2468880" cy="457200"/>
          </a:xfrm>
          <a:prstGeom prst="rect">
            <a:avLst/>
          </a:prstGeom>
          <a:noFill/>
        </p:spPr>
        <p:txBody>
          <a:bodyPr wrap="square">
            <a:spAutoFit/>
          </a:bodyPr>
          <a:lstStyle/>
          <a:p>
            <a:pPr algn="ctr">
              <a:defRPr sz="1300" b="1">
                <a:solidFill>
                  <a:srgbClr val="228B22"/>
                </a:solidFill>
                <a:latin typeface="Calibri"/>
              </a:defRPr>
            </a:pPr>
            <a:r>
              <a:t>Acces inclusif via USSD</a:t>
            </a:r>
          </a:p>
        </p:txBody>
      </p:sp>
      <p:sp>
        <p:nvSpPr>
          <p:cNvPr id="17" name="TextBox 16"/>
          <p:cNvSpPr txBox="1"/>
          <p:nvPr/>
        </p:nvSpPr>
        <p:spPr>
          <a:xfrm>
            <a:off x="9144000" y="2743200"/>
            <a:ext cx="2468880" cy="2926080"/>
          </a:xfrm>
          <a:prstGeom prst="rect">
            <a:avLst/>
          </a:prstGeom>
          <a:noFill/>
        </p:spPr>
        <p:txBody>
          <a:bodyPr wrap="square">
            <a:spAutoFit/>
          </a:bodyPr>
          <a:lstStyle/>
          <a:p>
            <a:pPr algn="l">
              <a:defRPr sz="1000" b="0">
                <a:solidFill>
                  <a:srgbClr val="3C3C3C"/>
                </a:solidFill>
                <a:latin typeface="Calibri"/>
              </a:defRPr>
            </a:pPr>
            <a:r>
              <a:t>Pour les 70% de producteurs sans smartphone, FreshCoop propose un acces USSD (*384*FRES#) avec un menu en Wolof et Pulaar : consultation des prix du jour, mise a jour des stocks, enregistrement de ventes et reception de paiements.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4. ANALYSE DU MARCHE</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188720"/>
            <a:ext cx="5029200" cy="365760"/>
          </a:xfrm>
          <a:prstGeom prst="rect">
            <a:avLst/>
          </a:prstGeom>
          <a:noFill/>
        </p:spPr>
        <p:txBody>
          <a:bodyPr wrap="square">
            <a:spAutoFit/>
          </a:bodyPr>
          <a:lstStyle/>
          <a:p>
            <a:pPr algn="l">
              <a:defRPr sz="1600" b="1">
                <a:solidFill>
                  <a:srgbClr val="228B22"/>
                </a:solidFill>
                <a:latin typeface="Calibri"/>
              </a:defRPr>
            </a:pPr>
            <a:r>
              <a:t>Taille du marche</a:t>
            </a:r>
          </a:p>
        </p:txBody>
      </p:sp>
      <p:sp>
        <p:nvSpPr>
          <p:cNvPr id="6" name="TextBox 5"/>
          <p:cNvSpPr txBox="1"/>
          <p:nvPr/>
        </p:nvSpPr>
        <p:spPr>
          <a:xfrm>
            <a:off x="457200" y="1645920"/>
            <a:ext cx="5029200" cy="1371600"/>
          </a:xfrm>
          <a:prstGeom prst="rect">
            <a:avLst/>
          </a:prstGeom>
          <a:noFill/>
        </p:spPr>
        <p:txBody>
          <a:bodyPr wrap="square">
            <a:spAutoFit/>
          </a:bodyPr>
          <a:lstStyle/>
          <a:p>
            <a:pPr algn="l">
              <a:defRPr sz="1100" b="0">
                <a:solidFill>
                  <a:srgbClr val="3C3C3C"/>
                </a:solidFill>
                <a:latin typeface="Calibri"/>
              </a:defRPr>
            </a:pPr>
            <a:r>
              <a:t>Le marche agricole senegalais represente plus de 3 000 milliards FCFA par an. Le segment des fruits et legumes, notre cible primaire, pese environ 800 milliards FCFA. Avec des pertes post-recolte de 40%, la valeur detruite chaque annee depasse 300 milliards FCFA.</a:t>
            </a:r>
          </a:p>
        </p:txBody>
      </p:sp>
      <p:sp>
        <p:nvSpPr>
          <p:cNvPr id="7" name="Rounded Rectangle 6"/>
          <p:cNvSpPr/>
          <p:nvPr/>
        </p:nvSpPr>
        <p:spPr>
          <a:xfrm>
            <a:off x="457200" y="3200400"/>
            <a:ext cx="2560320" cy="1097280"/>
          </a:xfrm>
          <a:prstGeom prst="round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246120"/>
            <a:ext cx="2560320" cy="457200"/>
          </a:xfrm>
          <a:prstGeom prst="rect">
            <a:avLst/>
          </a:prstGeom>
          <a:noFill/>
        </p:spPr>
        <p:txBody>
          <a:bodyPr wrap="square">
            <a:spAutoFit/>
          </a:bodyPr>
          <a:lstStyle/>
          <a:p>
            <a:pPr algn="ctr">
              <a:defRPr sz="2200" b="1">
                <a:solidFill>
                  <a:srgbClr val="FFFFFF"/>
                </a:solidFill>
                <a:latin typeface="Calibri"/>
              </a:defRPr>
            </a:pPr>
            <a:r>
              <a:t>3 000 Mds</a:t>
            </a:r>
          </a:p>
        </p:txBody>
      </p:sp>
      <p:sp>
        <p:nvSpPr>
          <p:cNvPr id="9" name="TextBox 8"/>
          <p:cNvSpPr txBox="1"/>
          <p:nvPr/>
        </p:nvSpPr>
        <p:spPr>
          <a:xfrm>
            <a:off x="457200" y="3703320"/>
            <a:ext cx="2560320" cy="548640"/>
          </a:xfrm>
          <a:prstGeom prst="rect">
            <a:avLst/>
          </a:prstGeom>
          <a:noFill/>
        </p:spPr>
        <p:txBody>
          <a:bodyPr wrap="square">
            <a:spAutoFit/>
          </a:bodyPr>
          <a:lstStyle/>
          <a:p>
            <a:pPr algn="ctr">
              <a:defRPr sz="1000" b="0">
                <a:solidFill>
                  <a:srgbClr val="FFFFFF"/>
                </a:solidFill>
                <a:latin typeface="Calibri"/>
              </a:defRPr>
            </a:pPr>
            <a:r>
              <a:t>FCFA/an</a:t>
            </a:r>
            <a:br/>
            <a:r>
              <a:t>Marche agricole</a:t>
            </a:r>
          </a:p>
        </p:txBody>
      </p:sp>
      <p:sp>
        <p:nvSpPr>
          <p:cNvPr id="10" name="Rounded Rectangle 9"/>
          <p:cNvSpPr/>
          <p:nvPr/>
        </p:nvSpPr>
        <p:spPr>
          <a:xfrm>
            <a:off x="3291840" y="3200400"/>
            <a:ext cx="2560320" cy="1097280"/>
          </a:xfrm>
          <a:prstGeom prst="round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3246120"/>
            <a:ext cx="2560320" cy="457200"/>
          </a:xfrm>
          <a:prstGeom prst="rect">
            <a:avLst/>
          </a:prstGeom>
          <a:noFill/>
        </p:spPr>
        <p:txBody>
          <a:bodyPr wrap="square">
            <a:spAutoFit/>
          </a:bodyPr>
          <a:lstStyle/>
          <a:p>
            <a:pPr algn="ctr">
              <a:defRPr sz="2200" b="1">
                <a:solidFill>
                  <a:srgbClr val="FFFFFF"/>
                </a:solidFill>
                <a:latin typeface="Calibri"/>
              </a:defRPr>
            </a:pPr>
            <a:r>
              <a:t>800 Mds</a:t>
            </a:r>
          </a:p>
        </p:txBody>
      </p:sp>
      <p:sp>
        <p:nvSpPr>
          <p:cNvPr id="12" name="TextBox 11"/>
          <p:cNvSpPr txBox="1"/>
          <p:nvPr/>
        </p:nvSpPr>
        <p:spPr>
          <a:xfrm>
            <a:off x="3291840" y="3703320"/>
            <a:ext cx="2560320" cy="548640"/>
          </a:xfrm>
          <a:prstGeom prst="rect">
            <a:avLst/>
          </a:prstGeom>
          <a:noFill/>
        </p:spPr>
        <p:txBody>
          <a:bodyPr wrap="square">
            <a:spAutoFit/>
          </a:bodyPr>
          <a:lstStyle/>
          <a:p>
            <a:pPr algn="ctr">
              <a:defRPr sz="1000" b="0">
                <a:solidFill>
                  <a:srgbClr val="FFFFFF"/>
                </a:solidFill>
                <a:latin typeface="Calibri"/>
              </a:defRPr>
            </a:pPr>
            <a:r>
              <a:t>FCFA</a:t>
            </a:r>
            <a:br/>
            <a:r>
              <a:t>Fruits &amp; legumes</a:t>
            </a:r>
          </a:p>
        </p:txBody>
      </p:sp>
      <p:sp>
        <p:nvSpPr>
          <p:cNvPr id="13" name="Rounded Rectangle 12"/>
          <p:cNvSpPr/>
          <p:nvPr/>
        </p:nvSpPr>
        <p:spPr>
          <a:xfrm>
            <a:off x="6126480" y="3200400"/>
            <a:ext cx="2560320" cy="1097280"/>
          </a:xfrm>
          <a:prstGeom prst="round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3246120"/>
            <a:ext cx="2560320" cy="457200"/>
          </a:xfrm>
          <a:prstGeom prst="rect">
            <a:avLst/>
          </a:prstGeom>
          <a:noFill/>
        </p:spPr>
        <p:txBody>
          <a:bodyPr wrap="square">
            <a:spAutoFit/>
          </a:bodyPr>
          <a:lstStyle/>
          <a:p>
            <a:pPr algn="ctr">
              <a:defRPr sz="2200" b="1">
                <a:solidFill>
                  <a:srgbClr val="FFFFFF"/>
                </a:solidFill>
                <a:latin typeface="Calibri"/>
              </a:defRPr>
            </a:pPr>
            <a:r>
              <a:t>40%</a:t>
            </a:r>
          </a:p>
        </p:txBody>
      </p:sp>
      <p:sp>
        <p:nvSpPr>
          <p:cNvPr id="15" name="TextBox 14"/>
          <p:cNvSpPr txBox="1"/>
          <p:nvPr/>
        </p:nvSpPr>
        <p:spPr>
          <a:xfrm>
            <a:off x="6126480" y="3703320"/>
            <a:ext cx="2560320" cy="548640"/>
          </a:xfrm>
          <a:prstGeom prst="rect">
            <a:avLst/>
          </a:prstGeom>
          <a:noFill/>
        </p:spPr>
        <p:txBody>
          <a:bodyPr wrap="square">
            <a:spAutoFit/>
          </a:bodyPr>
          <a:lstStyle/>
          <a:p>
            <a:pPr algn="ctr">
              <a:defRPr sz="1000" b="0">
                <a:solidFill>
                  <a:srgbClr val="FFFFFF"/>
                </a:solidFill>
                <a:latin typeface="Calibri"/>
              </a:defRPr>
            </a:pPr>
            <a:r>
              <a:t>Pertes</a:t>
            </a:r>
            <a:br/>
            <a:r>
              <a:t>post-recolte</a:t>
            </a:r>
          </a:p>
        </p:txBody>
      </p:sp>
      <p:sp>
        <p:nvSpPr>
          <p:cNvPr id="16" name="Rounded Rectangle 15"/>
          <p:cNvSpPr/>
          <p:nvPr/>
        </p:nvSpPr>
        <p:spPr>
          <a:xfrm>
            <a:off x="8961120" y="3200400"/>
            <a:ext cx="2560320" cy="1097280"/>
          </a:xfrm>
          <a:prstGeom prst="round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3246120"/>
            <a:ext cx="2560320" cy="457200"/>
          </a:xfrm>
          <a:prstGeom prst="rect">
            <a:avLst/>
          </a:prstGeom>
          <a:noFill/>
        </p:spPr>
        <p:txBody>
          <a:bodyPr wrap="square">
            <a:spAutoFit/>
          </a:bodyPr>
          <a:lstStyle/>
          <a:p>
            <a:pPr algn="ctr">
              <a:defRPr sz="2200" b="1">
                <a:solidFill>
                  <a:srgbClr val="FFFFFF"/>
                </a:solidFill>
                <a:latin typeface="Calibri"/>
              </a:defRPr>
            </a:pPr>
            <a:r>
              <a:t>300 Mds</a:t>
            </a:r>
          </a:p>
        </p:txBody>
      </p:sp>
      <p:sp>
        <p:nvSpPr>
          <p:cNvPr id="18" name="TextBox 17"/>
          <p:cNvSpPr txBox="1"/>
          <p:nvPr/>
        </p:nvSpPr>
        <p:spPr>
          <a:xfrm>
            <a:off x="8961120" y="3703320"/>
            <a:ext cx="2560320" cy="548640"/>
          </a:xfrm>
          <a:prstGeom prst="rect">
            <a:avLst/>
          </a:prstGeom>
          <a:noFill/>
        </p:spPr>
        <p:txBody>
          <a:bodyPr wrap="square">
            <a:spAutoFit/>
          </a:bodyPr>
          <a:lstStyle/>
          <a:p>
            <a:pPr algn="ctr">
              <a:defRPr sz="1000" b="0">
                <a:solidFill>
                  <a:srgbClr val="FFFFFF"/>
                </a:solidFill>
                <a:latin typeface="Calibri"/>
              </a:defRPr>
            </a:pPr>
            <a:r>
              <a:t>FCFA</a:t>
            </a:r>
            <a:br/>
            <a:r>
              <a:t>Valeur detruite</a:t>
            </a:r>
          </a:p>
        </p:txBody>
      </p:sp>
      <p:sp>
        <p:nvSpPr>
          <p:cNvPr id="19" name="TextBox 18"/>
          <p:cNvSpPr txBox="1"/>
          <p:nvPr/>
        </p:nvSpPr>
        <p:spPr>
          <a:xfrm>
            <a:off x="457200" y="4572000"/>
            <a:ext cx="10972800" cy="365760"/>
          </a:xfrm>
          <a:prstGeom prst="rect">
            <a:avLst/>
          </a:prstGeom>
          <a:noFill/>
        </p:spPr>
        <p:txBody>
          <a:bodyPr wrap="square">
            <a:spAutoFit/>
          </a:bodyPr>
          <a:lstStyle/>
          <a:p>
            <a:pPr algn="l">
              <a:defRPr sz="1400" b="1">
                <a:solidFill>
                  <a:srgbClr val="228B22"/>
                </a:solidFill>
                <a:latin typeface="Calibri"/>
              </a:defRPr>
            </a:pPr>
            <a:r>
              <a:t>Avantages concurrentiels</a:t>
            </a:r>
          </a:p>
        </p:txBody>
      </p:sp>
      <p:sp>
        <p:nvSpPr>
          <p:cNvPr id="20" name="TextBox 19"/>
          <p:cNvSpPr txBox="1"/>
          <p:nvPr/>
        </p:nvSpPr>
        <p:spPr>
          <a:xfrm>
            <a:off x="457200" y="5029200"/>
            <a:ext cx="10972800" cy="1371600"/>
          </a:xfrm>
          <a:prstGeom prst="rect">
            <a:avLst/>
          </a:prstGeom>
          <a:noFill/>
        </p:spPr>
        <p:txBody>
          <a:bodyPr wrap="square">
            <a:spAutoFit/>
          </a:bodyPr>
          <a:lstStyle/>
          <a:p>
            <a:pPr>
              <a:spcAft>
                <a:spcPts val="600"/>
              </a:spcAft>
              <a:defRPr sz="1100">
                <a:solidFill>
                  <a:srgbClr val="1E1E1E"/>
                </a:solidFill>
                <a:latin typeface="Calibri"/>
              </a:defRPr>
              <a:buChar char="•"/>
            </a:pPr>
            <a:r>
              <a:t>Pas de wallet proprietaire : paiements via Orange Money, Wave, PayDunya</a:t>
            </a:r>
          </a:p>
          <a:p>
            <a:pPr>
              <a:spcAft>
                <a:spcPts val="600"/>
              </a:spcAft>
              <a:defRPr sz="1100">
                <a:solidFill>
                  <a:srgbClr val="1E1E1E"/>
                </a:solidFill>
                <a:latin typeface="Calibri"/>
              </a:defRPr>
              <a:buChar char="•"/>
            </a:pPr>
            <a:r>
              <a:t>Donnees sous controle du producteur avec consentement explicite et revocable</a:t>
            </a:r>
          </a:p>
          <a:p>
            <a:pPr>
              <a:spcAft>
                <a:spcPts val="600"/>
              </a:spcAft>
              <a:defRPr sz="1100">
                <a:solidFill>
                  <a:srgbClr val="1E1E1E"/>
                </a:solidFill>
                <a:latin typeface="Calibri"/>
              </a:defRPr>
              <a:buChar char="•"/>
            </a:pPr>
            <a:r>
              <a:t>Tracabilite complete lot par lot avec QR code, photos et capteurs IoT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5. PRODUIT ET FONCTIONNALITES</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188720"/>
            <a:ext cx="10972800" cy="457200"/>
          </a:xfrm>
          <a:prstGeom prst="rect">
            <a:avLst/>
          </a:prstGeom>
          <a:noFill/>
        </p:spPr>
        <p:txBody>
          <a:bodyPr wrap="square">
            <a:spAutoFit/>
          </a:bodyPr>
          <a:lstStyle/>
          <a:p>
            <a:pPr algn="l">
              <a:defRPr sz="1400" b="1">
                <a:solidFill>
                  <a:srgbClr val="228B22"/>
                </a:solidFill>
                <a:latin typeface="Calibri"/>
              </a:defRPr>
            </a:pPr>
            <a:r>
              <a:t>Web (React 19 + Vite)  |  Mobile (React Native / Expo)  |  USSD (*384*FRES#)</a:t>
            </a:r>
          </a:p>
        </p:txBody>
      </p:sp>
      <p:sp>
        <p:nvSpPr>
          <p:cNvPr id="6" name="TextBox 5"/>
          <p:cNvSpPr txBox="1"/>
          <p:nvPr/>
        </p:nvSpPr>
        <p:spPr>
          <a:xfrm>
            <a:off x="457200" y="1828800"/>
            <a:ext cx="5486400" cy="4572000"/>
          </a:xfrm>
          <a:prstGeom prst="rect">
            <a:avLst/>
          </a:prstGeom>
          <a:noFill/>
        </p:spPr>
        <p:txBody>
          <a:bodyPr wrap="square">
            <a:spAutoFit/>
          </a:bodyPr>
          <a:lstStyle/>
          <a:p>
            <a:pPr>
              <a:spcAft>
                <a:spcPts val="600"/>
              </a:spcAft>
              <a:defRPr sz="1100">
                <a:solidFill>
                  <a:srgbClr val="1E1E1E"/>
                </a:solidFill>
                <a:latin typeface="Calibri"/>
              </a:defRPr>
              <a:buChar char="•"/>
            </a:pPr>
            <a:r>
              <a:t>Producteur (Agriculteur): Publication de produits, creation de lots avec QR code, suivi des commandes, intelligence marche, export de preuve economique</a:t>
            </a:r>
          </a:p>
          <a:p>
            <a:pPr>
              <a:spcAft>
                <a:spcPts val="600"/>
              </a:spcAft>
              <a:defRPr sz="1100">
                <a:solidFill>
                  <a:srgbClr val="1E1E1E"/>
                </a:solidFill>
                <a:latin typeface="Calibri"/>
              </a:defRPr>
              <a:buChar char="•"/>
            </a:pPr>
            <a:r>
              <a:t>Acheteur B2B: Reservation de lots en gros, tracabilite champ-a-marche, rachat facilite, specifications qualite</a:t>
            </a:r>
          </a:p>
          <a:p>
            <a:pPr>
              <a:spcAft>
                <a:spcPts val="600"/>
              </a:spcAft>
              <a:defRPr sz="1100">
                <a:solidFill>
                  <a:srgbClr val="1E1E1E"/>
                </a:solidFill>
                <a:latin typeface="Calibri"/>
              </a:defRPr>
              <a:buChar char="•"/>
            </a:pPr>
            <a:r>
              <a:t>Client (Marketplace): Navigation par categorie, panier d'achat, messagerie vendeur, suivi de commande</a:t>
            </a:r>
          </a:p>
          <a:p>
            <a:pPr>
              <a:spcAft>
                <a:spcPts val="600"/>
              </a:spcAft>
              <a:defRPr sz="1100">
                <a:solidFill>
                  <a:srgbClr val="1E1E1E"/>
                </a:solidFill>
                <a:latin typeface="Calibri"/>
              </a:defRPr>
              <a:buChar char="•"/>
            </a:pPr>
            <a:r>
              <a:t>Transporteur: Gestion des itineraires, monitoring des hubs, alertes de risque</a:t>
            </a:r>
          </a:p>
        </p:txBody>
      </p:sp>
      <p:sp>
        <p:nvSpPr>
          <p:cNvPr id="7" name="TextBox 6"/>
          <p:cNvSpPr txBox="1"/>
          <p:nvPr/>
        </p:nvSpPr>
        <p:spPr>
          <a:xfrm>
            <a:off x="6217920" y="1828800"/>
            <a:ext cx="5486400" cy="4572000"/>
          </a:xfrm>
          <a:prstGeom prst="rect">
            <a:avLst/>
          </a:prstGeom>
          <a:noFill/>
        </p:spPr>
        <p:txBody>
          <a:bodyPr wrap="square">
            <a:spAutoFit/>
          </a:bodyPr>
          <a:lstStyle/>
          <a:p>
            <a:pPr>
              <a:spcAft>
                <a:spcPts val="600"/>
              </a:spcAft>
              <a:defRPr sz="1100">
                <a:solidFill>
                  <a:srgbClr val="1E1E1E"/>
                </a:solidFill>
                <a:latin typeface="Calibri"/>
              </a:defRPr>
              <a:buChar char="•"/>
            </a:pPr>
            <a:r>
              <a:t>Agent de terrain: Confirmation de commandes hors-ligne, coordination avec producteurs et transporteurs</a:t>
            </a:r>
          </a:p>
          <a:p>
            <a:pPr>
              <a:spcAft>
                <a:spcPts val="600"/>
              </a:spcAft>
              <a:defRPr sz="1100">
                <a:solidFill>
                  <a:srgbClr val="1E1E1E"/>
                </a:solidFill>
                <a:latin typeface="Calibri"/>
              </a:defRPr>
              <a:buChar char="•"/>
            </a:pPr>
            <a:r>
              <a:t>Partenaire financier: Consultation des preuves economiques consenties, scoring de bancabilite</a:t>
            </a:r>
          </a:p>
          <a:p>
            <a:pPr>
              <a:spcAft>
                <a:spcPts val="600"/>
              </a:spcAft>
              <a:defRPr sz="1100">
                <a:solidFill>
                  <a:srgbClr val="1E1E1E"/>
                </a:solidFill>
                <a:latin typeface="Calibri"/>
              </a:defRPr>
              <a:buChar char="•"/>
            </a:pPr>
            <a:r>
              <a:t>Administrateur: Gestion des utilisateurs, validation des dossiers, KPIs plateforme en temps reel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6. EQUIPE ET COMPETENCES CLES</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Rounded Rectangle 4"/>
          <p:cNvSpPr/>
          <p:nvPr/>
        </p:nvSpPr>
        <p:spPr>
          <a:xfrm>
            <a:off x="365760" y="1371600"/>
            <a:ext cx="3657600" cy="21031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3291840" cy="457200"/>
          </a:xfrm>
          <a:prstGeom prst="rect">
            <a:avLst/>
          </a:prstGeom>
          <a:noFill/>
        </p:spPr>
        <p:txBody>
          <a:bodyPr wrap="square">
            <a:spAutoFit/>
          </a:bodyPr>
          <a:lstStyle/>
          <a:p>
            <a:pPr algn="l">
              <a:defRPr sz="1200" b="1">
                <a:solidFill>
                  <a:srgbClr val="228B22"/>
                </a:solidFill>
                <a:latin typeface="Calibri"/>
              </a:defRPr>
            </a:pPr>
            <a:r>
              <a:t>Direction Generale / Fondateur</a:t>
            </a:r>
          </a:p>
        </p:txBody>
      </p:sp>
      <p:sp>
        <p:nvSpPr>
          <p:cNvPr id="7" name="TextBox 6"/>
          <p:cNvSpPr txBox="1"/>
          <p:nvPr/>
        </p:nvSpPr>
        <p:spPr>
          <a:xfrm>
            <a:off x="548640" y="2103120"/>
            <a:ext cx="3291840" cy="1188720"/>
          </a:xfrm>
          <a:prstGeom prst="rect">
            <a:avLst/>
          </a:prstGeom>
          <a:noFill/>
        </p:spPr>
        <p:txBody>
          <a:bodyPr wrap="square">
            <a:spAutoFit/>
          </a:bodyPr>
          <a:lstStyle/>
          <a:p>
            <a:pPr algn="l">
              <a:defRPr sz="1000" b="0">
                <a:solidFill>
                  <a:srgbClr val="3C3C3C"/>
                </a:solidFill>
                <a:latin typeface="Calibri"/>
              </a:defRPr>
            </a:pPr>
            <a:r>
              <a:t>Vision strategique, connaissance du terrain agricole senegalais, relations institutionnelles POESAM</a:t>
            </a:r>
          </a:p>
        </p:txBody>
      </p:sp>
      <p:sp>
        <p:nvSpPr>
          <p:cNvPr id="8" name="Rounded Rectangle 7"/>
          <p:cNvSpPr/>
          <p:nvPr/>
        </p:nvSpPr>
        <p:spPr>
          <a:xfrm>
            <a:off x="4160520" y="1371600"/>
            <a:ext cx="3657600" cy="21031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554480"/>
            <a:ext cx="3291840" cy="457200"/>
          </a:xfrm>
          <a:prstGeom prst="rect">
            <a:avLst/>
          </a:prstGeom>
          <a:noFill/>
        </p:spPr>
        <p:txBody>
          <a:bodyPr wrap="square">
            <a:spAutoFit/>
          </a:bodyPr>
          <a:lstStyle/>
          <a:p>
            <a:pPr algn="l">
              <a:defRPr sz="1200" b="1">
                <a:solidFill>
                  <a:srgbClr val="228B22"/>
                </a:solidFill>
                <a:latin typeface="Calibri"/>
              </a:defRPr>
            </a:pPr>
            <a:r>
              <a:t>CTO / Lead Developpement</a:t>
            </a:r>
          </a:p>
        </p:txBody>
      </p:sp>
      <p:sp>
        <p:nvSpPr>
          <p:cNvPr id="10" name="TextBox 9"/>
          <p:cNvSpPr txBox="1"/>
          <p:nvPr/>
        </p:nvSpPr>
        <p:spPr>
          <a:xfrm>
            <a:off x="4343400" y="2103120"/>
            <a:ext cx="3291840" cy="1188720"/>
          </a:xfrm>
          <a:prstGeom prst="rect">
            <a:avLst/>
          </a:prstGeom>
          <a:noFill/>
        </p:spPr>
        <p:txBody>
          <a:bodyPr wrap="square">
            <a:spAutoFit/>
          </a:bodyPr>
          <a:lstStyle/>
          <a:p>
            <a:pPr algn="l">
              <a:defRPr sz="1000" b="0">
                <a:solidFill>
                  <a:srgbClr val="3C3C3C"/>
                </a:solidFill>
                <a:latin typeface="Calibri"/>
              </a:defRPr>
            </a:pPr>
            <a:r>
              <a:t>Architecture full-stack (React, Node.js, React Native/Expo), integration IoT, securite des donnees</a:t>
            </a:r>
          </a:p>
        </p:txBody>
      </p:sp>
      <p:sp>
        <p:nvSpPr>
          <p:cNvPr id="11" name="Rounded Rectangle 10"/>
          <p:cNvSpPr/>
          <p:nvPr/>
        </p:nvSpPr>
        <p:spPr>
          <a:xfrm>
            <a:off x="7955280" y="1371600"/>
            <a:ext cx="3657600" cy="21031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554480"/>
            <a:ext cx="3291840" cy="457200"/>
          </a:xfrm>
          <a:prstGeom prst="rect">
            <a:avLst/>
          </a:prstGeom>
          <a:noFill/>
        </p:spPr>
        <p:txBody>
          <a:bodyPr wrap="square">
            <a:spAutoFit/>
          </a:bodyPr>
          <a:lstStyle/>
          <a:p>
            <a:pPr algn="l">
              <a:defRPr sz="1200" b="1">
                <a:solidFill>
                  <a:srgbClr val="228B22"/>
                </a:solidFill>
                <a:latin typeface="Calibri"/>
              </a:defRPr>
            </a:pPr>
            <a:r>
              <a:t>Responsable Operations Terrain</a:t>
            </a:r>
          </a:p>
        </p:txBody>
      </p:sp>
      <p:sp>
        <p:nvSpPr>
          <p:cNvPr id="13" name="TextBox 12"/>
          <p:cNvSpPr txBox="1"/>
          <p:nvPr/>
        </p:nvSpPr>
        <p:spPr>
          <a:xfrm>
            <a:off x="8138160" y="2103120"/>
            <a:ext cx="3291840" cy="1188720"/>
          </a:xfrm>
          <a:prstGeom prst="rect">
            <a:avLst/>
          </a:prstGeom>
          <a:noFill/>
        </p:spPr>
        <p:txBody>
          <a:bodyPr wrap="square">
            <a:spAutoFit/>
          </a:bodyPr>
          <a:lstStyle/>
          <a:p>
            <a:pPr algn="l">
              <a:defRPr sz="1000" b="0">
                <a:solidFill>
                  <a:srgbClr val="3C3C3C"/>
                </a:solidFill>
                <a:latin typeface="Calibri"/>
              </a:defRPr>
            </a:pPr>
            <a:r>
              <a:t>Coordination avec les cooperatives, deploiement des hubs, formation des agents terrain</a:t>
            </a:r>
          </a:p>
        </p:txBody>
      </p:sp>
      <p:sp>
        <p:nvSpPr>
          <p:cNvPr id="14" name="Rounded Rectangle 13"/>
          <p:cNvSpPr/>
          <p:nvPr/>
        </p:nvSpPr>
        <p:spPr>
          <a:xfrm>
            <a:off x="365760" y="3749039"/>
            <a:ext cx="3657600" cy="21031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31920"/>
            <a:ext cx="3291840" cy="457200"/>
          </a:xfrm>
          <a:prstGeom prst="rect">
            <a:avLst/>
          </a:prstGeom>
          <a:noFill/>
        </p:spPr>
        <p:txBody>
          <a:bodyPr wrap="square">
            <a:spAutoFit/>
          </a:bodyPr>
          <a:lstStyle/>
          <a:p>
            <a:pPr algn="l">
              <a:defRPr sz="1200" b="1">
                <a:solidFill>
                  <a:srgbClr val="228B22"/>
                </a:solidFill>
                <a:latin typeface="Calibri"/>
              </a:defRPr>
            </a:pPr>
            <a:r>
              <a:t>Responsable Partenariats Financiers</a:t>
            </a:r>
          </a:p>
        </p:txBody>
      </p:sp>
      <p:sp>
        <p:nvSpPr>
          <p:cNvPr id="16" name="TextBox 15"/>
          <p:cNvSpPr txBox="1"/>
          <p:nvPr/>
        </p:nvSpPr>
        <p:spPr>
          <a:xfrm>
            <a:off x="548640" y="4480559"/>
            <a:ext cx="3291840" cy="1188720"/>
          </a:xfrm>
          <a:prstGeom prst="rect">
            <a:avLst/>
          </a:prstGeom>
          <a:noFill/>
        </p:spPr>
        <p:txBody>
          <a:bodyPr wrap="square">
            <a:spAutoFit/>
          </a:bodyPr>
          <a:lstStyle/>
          <a:p>
            <a:pPr algn="l">
              <a:defRPr sz="1000" b="0">
                <a:solidFill>
                  <a:srgbClr val="3C3C3C"/>
                </a:solidFill>
                <a:latin typeface="Calibri"/>
              </a:defRPr>
            </a:pPr>
            <a:r>
              <a:t>Relations avec les SFD, banques et fintechs, conception du module de preuve economique</a:t>
            </a:r>
          </a:p>
        </p:txBody>
      </p:sp>
      <p:sp>
        <p:nvSpPr>
          <p:cNvPr id="17" name="Rounded Rectangle 16"/>
          <p:cNvSpPr/>
          <p:nvPr/>
        </p:nvSpPr>
        <p:spPr>
          <a:xfrm>
            <a:off x="4160520" y="3749039"/>
            <a:ext cx="3657600" cy="21031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3931920"/>
            <a:ext cx="3291840" cy="457200"/>
          </a:xfrm>
          <a:prstGeom prst="rect">
            <a:avLst/>
          </a:prstGeom>
          <a:noFill/>
        </p:spPr>
        <p:txBody>
          <a:bodyPr wrap="square">
            <a:spAutoFit/>
          </a:bodyPr>
          <a:lstStyle/>
          <a:p>
            <a:pPr algn="l">
              <a:defRPr sz="1200" b="1">
                <a:solidFill>
                  <a:srgbClr val="228B22"/>
                </a:solidFill>
                <a:latin typeface="Calibri"/>
              </a:defRPr>
            </a:pPr>
            <a:r>
              <a:t>Data Analyst / Impact</a:t>
            </a:r>
          </a:p>
        </p:txBody>
      </p:sp>
      <p:sp>
        <p:nvSpPr>
          <p:cNvPr id="19" name="TextBox 18"/>
          <p:cNvSpPr txBox="1"/>
          <p:nvPr/>
        </p:nvSpPr>
        <p:spPr>
          <a:xfrm>
            <a:off x="4343400" y="4480559"/>
            <a:ext cx="3291840" cy="1188720"/>
          </a:xfrm>
          <a:prstGeom prst="rect">
            <a:avLst/>
          </a:prstGeom>
          <a:noFill/>
        </p:spPr>
        <p:txBody>
          <a:bodyPr wrap="square">
            <a:spAutoFit/>
          </a:bodyPr>
          <a:lstStyle/>
          <a:p>
            <a:pPr algn="l">
              <a:defRPr sz="1000" b="0">
                <a:solidFill>
                  <a:srgbClr val="3C3C3C"/>
                </a:solidFill>
                <a:latin typeface="Calibri"/>
              </a:defRPr>
            </a:pPr>
            <a:r>
              <a:t>Modelisation des KPIs POESAM, mesure d'impact, reporting aux bailleurs</a:t>
            </a:r>
          </a:p>
        </p:txBody>
      </p:sp>
      <p:sp>
        <p:nvSpPr>
          <p:cNvPr id="20" name="Rounded Rectangle 19"/>
          <p:cNvSpPr/>
          <p:nvPr/>
        </p:nvSpPr>
        <p:spPr>
          <a:xfrm>
            <a:off x="7955280" y="3749039"/>
            <a:ext cx="3657600" cy="2103120"/>
          </a:xfrm>
          <a:prstGeom prst="roundRect">
            <a:avLst/>
          </a:prstGeom>
          <a:solidFill>
            <a:srgbClr val="F5FFF5"/>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931920"/>
            <a:ext cx="3291840" cy="457200"/>
          </a:xfrm>
          <a:prstGeom prst="rect">
            <a:avLst/>
          </a:prstGeom>
          <a:noFill/>
        </p:spPr>
        <p:txBody>
          <a:bodyPr wrap="square">
            <a:spAutoFit/>
          </a:bodyPr>
          <a:lstStyle/>
          <a:p>
            <a:pPr algn="l">
              <a:defRPr sz="1200" b="1">
                <a:solidFill>
                  <a:srgbClr val="228B22"/>
                </a:solidFill>
                <a:latin typeface="Calibri"/>
              </a:defRPr>
            </a:pPr>
            <a:r>
              <a:t>UX / Design</a:t>
            </a:r>
          </a:p>
        </p:txBody>
      </p:sp>
      <p:sp>
        <p:nvSpPr>
          <p:cNvPr id="22" name="TextBox 21"/>
          <p:cNvSpPr txBox="1"/>
          <p:nvPr/>
        </p:nvSpPr>
        <p:spPr>
          <a:xfrm>
            <a:off x="8138160" y="4480559"/>
            <a:ext cx="3291840" cy="1188720"/>
          </a:xfrm>
          <a:prstGeom prst="rect">
            <a:avLst/>
          </a:prstGeom>
          <a:noFill/>
        </p:spPr>
        <p:txBody>
          <a:bodyPr wrap="square">
            <a:spAutoFit/>
          </a:bodyPr>
          <a:lstStyle/>
          <a:p>
            <a:pPr algn="l">
              <a:defRPr sz="1000" b="0">
                <a:solidFill>
                  <a:srgbClr val="3C3C3C"/>
                </a:solidFill>
                <a:latin typeface="Calibri"/>
              </a:defRPr>
            </a:pPr>
            <a:r>
              <a:t>Conception d'interfaces accessibles, adaptation multilingue (Wolof, Pulaar, Francais)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7. MODELE ECONOMIQUE</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371600"/>
            <a:ext cx="10972800" cy="2743200"/>
          </a:xfrm>
          <a:prstGeom prst="rect">
            <a:avLst/>
          </a:prstGeom>
          <a:noFill/>
        </p:spPr>
        <p:txBody>
          <a:bodyPr wrap="square">
            <a:spAutoFit/>
          </a:bodyPr>
          <a:lstStyle/>
          <a:p>
            <a:pPr>
              <a:spcAft>
                <a:spcPts val="600"/>
              </a:spcAft>
              <a:defRPr sz="1300">
                <a:solidFill>
                  <a:srgbClr val="1E1E1E"/>
                </a:solidFill>
                <a:latin typeface="Calibri"/>
              </a:defRPr>
              <a:buChar char="•"/>
            </a:pPr>
            <a:r>
              <a:t>Commission sur transactions : 2-5% par commande confirmee et livree</a:t>
            </a:r>
          </a:p>
          <a:p>
            <a:pPr>
              <a:spcAft>
                <a:spcPts val="600"/>
              </a:spcAft>
              <a:defRPr sz="1300">
                <a:solidFill>
                  <a:srgbClr val="1E1E1E"/>
                </a:solidFill>
                <a:latin typeface="Calibri"/>
              </a:defRPr>
              <a:buChar char="•"/>
            </a:pPr>
            <a:r>
              <a:t>Abonnement hub : 5 000 - 15 000 FCFA/mois pour le stockage frigorifique</a:t>
            </a:r>
          </a:p>
          <a:p>
            <a:pPr>
              <a:spcAft>
                <a:spcPts val="600"/>
              </a:spcAft>
              <a:defRPr sz="1300">
                <a:solidFill>
                  <a:srgbClr val="1E1E1E"/>
                </a:solidFill>
                <a:latin typeface="Calibri"/>
              </a:defRPr>
              <a:buChar char="•"/>
            </a:pPr>
            <a:r>
              <a:t>Services premium B2B : visibilite renforcee, analytics avances, acces prioritaire</a:t>
            </a:r>
          </a:p>
          <a:p>
            <a:pPr>
              <a:spcAft>
                <a:spcPts val="600"/>
              </a:spcAft>
              <a:defRPr sz="1300">
                <a:solidFill>
                  <a:srgbClr val="1E1E1E"/>
                </a:solidFill>
                <a:latin typeface="Calibri"/>
              </a:defRPr>
              <a:buChar char="•"/>
            </a:pPr>
            <a:r>
              <a:t>Frais de certification : generation et export de preuves economiques</a:t>
            </a:r>
          </a:p>
          <a:p>
            <a:pPr>
              <a:spcAft>
                <a:spcPts val="600"/>
              </a:spcAft>
              <a:defRPr sz="1300">
                <a:solidFill>
                  <a:srgbClr val="1E1E1E"/>
                </a:solidFill>
                <a:latin typeface="Calibri"/>
              </a:defRPr>
              <a:buChar char="•"/>
            </a:pPr>
            <a:r>
              <a:t>Data insights : analyses de marche anonymisees pour ministeres et ONG (a terme)</a:t>
            </a:r>
          </a:p>
        </p:txBody>
      </p:sp>
      <p:sp>
        <p:nvSpPr>
          <p:cNvPr id="6" name="Rounded Rectangle 5"/>
          <p:cNvSpPr/>
          <p:nvPr/>
        </p:nvSpPr>
        <p:spPr>
          <a:xfrm>
            <a:off x="457200" y="4572000"/>
            <a:ext cx="11247120" cy="1097280"/>
          </a:xfrm>
          <a:prstGeom prst="roundRect">
            <a:avLst/>
          </a:prstGeom>
          <a:solidFill>
            <a:srgbClr val="FFFAE6"/>
          </a:solidFill>
          <a:ln>
            <a:solidFill>
              <a:srgbClr val="C8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63440"/>
            <a:ext cx="10789920" cy="914400"/>
          </a:xfrm>
          <a:prstGeom prst="rect">
            <a:avLst/>
          </a:prstGeom>
          <a:noFill/>
        </p:spPr>
        <p:txBody>
          <a:bodyPr wrap="square">
            <a:spAutoFit/>
          </a:bodyPr>
          <a:lstStyle/>
          <a:p>
            <a:pPr algn="l">
              <a:defRPr sz="1200" b="0">
                <a:solidFill>
                  <a:srgbClr val="503C00"/>
                </a:solidFill>
                <a:latin typeface="Calibri"/>
              </a:defRPr>
            </a:pPr>
            <a:r>
              <a:t>Point cle : FreshCoop n'est PAS un portefeuille electronique. Les paiements passent par Orange Money, Wave, PayDunya. Aucun fonds detenu = zero contrainte reglementaire EME.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8. PREVISIONS FINANCIERES SUR 3 ANS</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graphicFrame>
        <p:nvGraphicFramePr>
          <p:cNvPr id="5" name="Table 4"/>
          <p:cNvGraphicFramePr>
            <a:graphicFrameLocks noGrp="1"/>
          </p:cNvGraphicFramePr>
          <p:nvPr/>
        </p:nvGraphicFramePr>
        <p:xfrm>
          <a:off x="457200" y="1371600"/>
          <a:ext cx="11247120" cy="4114800"/>
        </p:xfrm>
        <a:graphic>
          <a:graphicData uri="http://schemas.openxmlformats.org/drawingml/2006/table">
            <a:tbl>
              <a:tblPr firstRow="1" bandRow="1">
                <a:tableStyleId>{5C22544A-7EE6-4342-B048-85BDC9FD1C3A}</a:tableStyleId>
              </a:tblPr>
              <a:tblGrid>
                <a:gridCol w="2811780"/>
                <a:gridCol w="2811780"/>
                <a:gridCol w="2811780"/>
                <a:gridCol w="2811780"/>
              </a:tblGrid>
              <a:tr h="316523">
                <a:tc>
                  <a:txBody>
                    <a:bodyPr/>
                    <a:lstStyle/>
                    <a:p>
                      <a:pPr algn="ctr">
                        <a:defRPr sz="1000" b="1">
                          <a:solidFill>
                            <a:srgbClr val="FFFFFF"/>
                          </a:solidFill>
                        </a:defRPr>
                      </a:pPr>
                      <a:r>
                        <a:t>Poste</a:t>
                      </a:r>
                    </a:p>
                  </a:txBody>
                  <a:tcPr>
                    <a:solidFill>
                      <a:srgbClr val="228B22"/>
                    </a:solidFill>
                  </a:tcPr>
                </a:tc>
                <a:tc>
                  <a:txBody>
                    <a:bodyPr/>
                    <a:lstStyle/>
                    <a:p>
                      <a:pPr algn="ctr">
                        <a:defRPr sz="1000" b="1">
                          <a:solidFill>
                            <a:srgbClr val="FFFFFF"/>
                          </a:solidFill>
                        </a:defRPr>
                      </a:pPr>
                      <a:r>
                        <a:t>Annee 1 (M FCFA)</a:t>
                      </a:r>
                    </a:p>
                  </a:txBody>
                  <a:tcPr>
                    <a:solidFill>
                      <a:srgbClr val="228B22"/>
                    </a:solidFill>
                  </a:tcPr>
                </a:tc>
                <a:tc>
                  <a:txBody>
                    <a:bodyPr/>
                    <a:lstStyle/>
                    <a:p>
                      <a:pPr algn="ctr">
                        <a:defRPr sz="1000" b="1">
                          <a:solidFill>
                            <a:srgbClr val="FFFFFF"/>
                          </a:solidFill>
                        </a:defRPr>
                      </a:pPr>
                      <a:r>
                        <a:t>Annee 2 (M FCFA)</a:t>
                      </a:r>
                    </a:p>
                  </a:txBody>
                  <a:tcPr>
                    <a:solidFill>
                      <a:srgbClr val="228B22"/>
                    </a:solidFill>
                  </a:tcPr>
                </a:tc>
                <a:tc>
                  <a:txBody>
                    <a:bodyPr/>
                    <a:lstStyle/>
                    <a:p>
                      <a:pPr algn="ctr">
                        <a:defRPr sz="1000" b="1">
                          <a:solidFill>
                            <a:srgbClr val="FFFFFF"/>
                          </a:solidFill>
                        </a:defRPr>
                      </a:pPr>
                      <a:r>
                        <a:t>Annee 3 (M FCFA)</a:t>
                      </a:r>
                    </a:p>
                  </a:txBody>
                  <a:tcPr>
                    <a:solidFill>
                      <a:srgbClr val="228B22"/>
                    </a:solidFill>
                  </a:tcPr>
                </a:tc>
              </a:tr>
              <a:tr h="316523">
                <a:tc>
                  <a:txBody>
                    <a:bodyPr/>
                    <a:lstStyle/>
                    <a:p>
                      <a:pPr>
                        <a:defRPr sz="900"/>
                      </a:pPr>
                      <a:r>
                        <a:t>Revenus commissions</a:t>
                      </a:r>
                    </a:p>
                  </a:txBody>
                  <a:tcPr/>
                </a:tc>
                <a:tc>
                  <a:txBody>
                    <a:bodyPr/>
                    <a:lstStyle/>
                    <a:p>
                      <a:pPr algn="ctr">
                        <a:defRPr sz="900"/>
                      </a:pPr>
                      <a:r>
                        <a:t>8</a:t>
                      </a:r>
                    </a:p>
                  </a:txBody>
                  <a:tcPr/>
                </a:tc>
                <a:tc>
                  <a:txBody>
                    <a:bodyPr/>
                    <a:lstStyle/>
                    <a:p>
                      <a:pPr algn="ctr">
                        <a:defRPr sz="900"/>
                      </a:pPr>
                      <a:r>
                        <a:t>45</a:t>
                      </a:r>
                    </a:p>
                  </a:txBody>
                  <a:tcPr/>
                </a:tc>
                <a:tc>
                  <a:txBody>
                    <a:bodyPr/>
                    <a:lstStyle/>
                    <a:p>
                      <a:pPr algn="ctr">
                        <a:defRPr sz="900"/>
                      </a:pPr>
                      <a:r>
                        <a:t>180</a:t>
                      </a:r>
                    </a:p>
                  </a:txBody>
                  <a:tcPr/>
                </a:tc>
              </a:tr>
              <a:tr h="316523">
                <a:tc>
                  <a:txBody>
                    <a:bodyPr/>
                    <a:lstStyle/>
                    <a:p>
                      <a:pPr>
                        <a:defRPr sz="900"/>
                      </a:pPr>
                      <a:r>
                        <a:t>Abonnements hubs</a:t>
                      </a:r>
                    </a:p>
                  </a:txBody>
                  <a:tcPr>
                    <a:solidFill>
                      <a:srgbClr val="E6F5E6"/>
                    </a:solidFill>
                  </a:tcPr>
                </a:tc>
                <a:tc>
                  <a:txBody>
                    <a:bodyPr/>
                    <a:lstStyle/>
                    <a:p>
                      <a:pPr algn="ctr">
                        <a:defRPr sz="900"/>
                      </a:pPr>
                      <a:r>
                        <a:t>5</a:t>
                      </a:r>
                    </a:p>
                  </a:txBody>
                  <a:tcPr>
                    <a:solidFill>
                      <a:srgbClr val="E6F5E6"/>
                    </a:solidFill>
                  </a:tcPr>
                </a:tc>
                <a:tc>
                  <a:txBody>
                    <a:bodyPr/>
                    <a:lstStyle/>
                    <a:p>
                      <a:pPr algn="ctr">
                        <a:defRPr sz="900"/>
                      </a:pPr>
                      <a:r>
                        <a:t>25</a:t>
                      </a:r>
                    </a:p>
                  </a:txBody>
                  <a:tcPr>
                    <a:solidFill>
                      <a:srgbClr val="E6F5E6"/>
                    </a:solidFill>
                  </a:tcPr>
                </a:tc>
                <a:tc>
                  <a:txBody>
                    <a:bodyPr/>
                    <a:lstStyle/>
                    <a:p>
                      <a:pPr algn="ctr">
                        <a:defRPr sz="900"/>
                      </a:pPr>
                      <a:r>
                        <a:t>90</a:t>
                      </a:r>
                    </a:p>
                  </a:txBody>
                  <a:tcPr>
                    <a:solidFill>
                      <a:srgbClr val="E6F5E6"/>
                    </a:solidFill>
                  </a:tcPr>
                </a:tc>
              </a:tr>
              <a:tr h="316523">
                <a:tc>
                  <a:txBody>
                    <a:bodyPr/>
                    <a:lstStyle/>
                    <a:p>
                      <a:pPr>
                        <a:defRPr sz="900"/>
                      </a:pPr>
                      <a:r>
                        <a:t>Services B2B premium</a:t>
                      </a:r>
                    </a:p>
                  </a:txBody>
                  <a:tcPr/>
                </a:tc>
                <a:tc>
                  <a:txBody>
                    <a:bodyPr/>
                    <a:lstStyle/>
                    <a:p>
                      <a:pPr algn="ctr">
                        <a:defRPr sz="900"/>
                      </a:pPr>
                      <a:r>
                        <a:t>2</a:t>
                      </a:r>
                    </a:p>
                  </a:txBody>
                  <a:tcPr/>
                </a:tc>
                <a:tc>
                  <a:txBody>
                    <a:bodyPr/>
                    <a:lstStyle/>
                    <a:p>
                      <a:pPr algn="ctr">
                        <a:defRPr sz="900"/>
                      </a:pPr>
                      <a:r>
                        <a:t>15</a:t>
                      </a:r>
                    </a:p>
                  </a:txBody>
                  <a:tcPr/>
                </a:tc>
                <a:tc>
                  <a:txBody>
                    <a:bodyPr/>
                    <a:lstStyle/>
                    <a:p>
                      <a:pPr algn="ctr">
                        <a:defRPr sz="900"/>
                      </a:pPr>
                      <a:r>
                        <a:t>60</a:t>
                      </a:r>
                    </a:p>
                  </a:txBody>
                  <a:tcPr/>
                </a:tc>
              </a:tr>
              <a:tr h="316523">
                <a:tc>
                  <a:txBody>
                    <a:bodyPr/>
                    <a:lstStyle/>
                    <a:p>
                      <a:pPr>
                        <a:defRPr sz="900"/>
                      </a:pPr>
                      <a:r>
                        <a:t>Certification/preuves</a:t>
                      </a:r>
                    </a:p>
                  </a:txBody>
                  <a:tcPr>
                    <a:solidFill>
                      <a:srgbClr val="E6F5E6"/>
                    </a:solidFill>
                  </a:tcPr>
                </a:tc>
                <a:tc>
                  <a:txBody>
                    <a:bodyPr/>
                    <a:lstStyle/>
                    <a:p>
                      <a:pPr algn="ctr">
                        <a:defRPr sz="900"/>
                      </a:pPr>
                      <a:r>
                        <a:t>1</a:t>
                      </a:r>
                    </a:p>
                  </a:txBody>
                  <a:tcPr>
                    <a:solidFill>
                      <a:srgbClr val="E6F5E6"/>
                    </a:solidFill>
                  </a:tcPr>
                </a:tc>
                <a:tc>
                  <a:txBody>
                    <a:bodyPr/>
                    <a:lstStyle/>
                    <a:p>
                      <a:pPr algn="ctr">
                        <a:defRPr sz="900"/>
                      </a:pPr>
                      <a:r>
                        <a:t>8</a:t>
                      </a:r>
                    </a:p>
                  </a:txBody>
                  <a:tcPr>
                    <a:solidFill>
                      <a:srgbClr val="E6F5E6"/>
                    </a:solidFill>
                  </a:tcPr>
                </a:tc>
                <a:tc>
                  <a:txBody>
                    <a:bodyPr/>
                    <a:lstStyle/>
                    <a:p>
                      <a:pPr algn="ctr">
                        <a:defRPr sz="900"/>
                      </a:pPr>
                      <a:r>
                        <a:t>35</a:t>
                      </a:r>
                    </a:p>
                  </a:txBody>
                  <a:tcPr>
                    <a:solidFill>
                      <a:srgbClr val="E6F5E6"/>
                    </a:solidFill>
                  </a:tcPr>
                </a:tc>
              </a:tr>
              <a:tr h="316523">
                <a:tc>
                  <a:txBody>
                    <a:bodyPr/>
                    <a:lstStyle/>
                    <a:p>
                      <a:pPr>
                        <a:defRPr sz="900" b="1"/>
                      </a:pPr>
                      <a:r>
                        <a:t>TOTAL REVENUS</a:t>
                      </a:r>
                    </a:p>
                  </a:txBody>
                  <a:tcPr/>
                </a:tc>
                <a:tc>
                  <a:txBody>
                    <a:bodyPr/>
                    <a:lstStyle/>
                    <a:p>
                      <a:pPr algn="ctr">
                        <a:defRPr sz="900" b="1"/>
                      </a:pPr>
                      <a:r>
                        <a:t>16</a:t>
                      </a:r>
                    </a:p>
                  </a:txBody>
                  <a:tcPr/>
                </a:tc>
                <a:tc>
                  <a:txBody>
                    <a:bodyPr/>
                    <a:lstStyle/>
                    <a:p>
                      <a:pPr algn="ctr">
                        <a:defRPr sz="900" b="1"/>
                      </a:pPr>
                      <a:r>
                        <a:t>93</a:t>
                      </a:r>
                    </a:p>
                  </a:txBody>
                  <a:tcPr/>
                </a:tc>
                <a:tc>
                  <a:txBody>
                    <a:bodyPr/>
                    <a:lstStyle/>
                    <a:p>
                      <a:pPr algn="ctr">
                        <a:defRPr sz="900" b="1"/>
                      </a:pPr>
                      <a:r>
                        <a:t>365</a:t>
                      </a:r>
                    </a:p>
                  </a:txBody>
                  <a:tcPr/>
                </a:tc>
              </a:tr>
              <a:tr h="316523">
                <a:tc>
                  <a:txBody>
                    <a:bodyPr/>
                    <a:lstStyle/>
                    <a:p>
                      <a:pPr>
                        <a:defRPr sz="900"/>
                      </a:pPr>
                      <a:r>
                        <a:t>Couts infrastructure</a:t>
                      </a:r>
                    </a:p>
                  </a:txBody>
                  <a:tcPr>
                    <a:solidFill>
                      <a:srgbClr val="E6F5E6"/>
                    </a:solidFill>
                  </a:tcPr>
                </a:tc>
                <a:tc>
                  <a:txBody>
                    <a:bodyPr/>
                    <a:lstStyle/>
                    <a:p>
                      <a:pPr algn="ctr">
                        <a:defRPr sz="900"/>
                      </a:pPr>
                      <a:r>
                        <a:t>-12</a:t>
                      </a:r>
                    </a:p>
                  </a:txBody>
                  <a:tcPr>
                    <a:solidFill>
                      <a:srgbClr val="E6F5E6"/>
                    </a:solidFill>
                  </a:tcPr>
                </a:tc>
                <a:tc>
                  <a:txBody>
                    <a:bodyPr/>
                    <a:lstStyle/>
                    <a:p>
                      <a:pPr algn="ctr">
                        <a:defRPr sz="900"/>
                      </a:pPr>
                      <a:r>
                        <a:t>-30</a:t>
                      </a:r>
                    </a:p>
                  </a:txBody>
                  <a:tcPr>
                    <a:solidFill>
                      <a:srgbClr val="E6F5E6"/>
                    </a:solidFill>
                  </a:tcPr>
                </a:tc>
                <a:tc>
                  <a:txBody>
                    <a:bodyPr/>
                    <a:lstStyle/>
                    <a:p>
                      <a:pPr algn="ctr">
                        <a:defRPr sz="900"/>
                      </a:pPr>
                      <a:r>
                        <a:t>-80</a:t>
                      </a:r>
                    </a:p>
                  </a:txBody>
                  <a:tcPr>
                    <a:solidFill>
                      <a:srgbClr val="E6F5E6"/>
                    </a:solidFill>
                  </a:tcPr>
                </a:tc>
              </a:tr>
              <a:tr h="316523">
                <a:tc>
                  <a:txBody>
                    <a:bodyPr/>
                    <a:lstStyle/>
                    <a:p>
                      <a:pPr>
                        <a:defRPr sz="900"/>
                      </a:pPr>
                      <a:r>
                        <a:t>Salaires equipe</a:t>
                      </a:r>
                    </a:p>
                  </a:txBody>
                  <a:tcPr/>
                </a:tc>
                <a:tc>
                  <a:txBody>
                    <a:bodyPr/>
                    <a:lstStyle/>
                    <a:p>
                      <a:pPr algn="ctr">
                        <a:defRPr sz="900"/>
                      </a:pPr>
                      <a:r>
                        <a:t>-18</a:t>
                      </a:r>
                    </a:p>
                  </a:txBody>
                  <a:tcPr/>
                </a:tc>
                <a:tc>
                  <a:txBody>
                    <a:bodyPr/>
                    <a:lstStyle/>
                    <a:p>
                      <a:pPr algn="ctr">
                        <a:defRPr sz="900"/>
                      </a:pPr>
                      <a:r>
                        <a:t>-35</a:t>
                      </a:r>
                    </a:p>
                  </a:txBody>
                  <a:tcPr/>
                </a:tc>
                <a:tc>
                  <a:txBody>
                    <a:bodyPr/>
                    <a:lstStyle/>
                    <a:p>
                      <a:pPr algn="ctr">
                        <a:defRPr sz="900"/>
                      </a:pPr>
                      <a:r>
                        <a:t>-60</a:t>
                      </a:r>
                    </a:p>
                  </a:txBody>
                  <a:tcPr/>
                </a:tc>
              </a:tr>
              <a:tr h="316523">
                <a:tc>
                  <a:txBody>
                    <a:bodyPr/>
                    <a:lstStyle/>
                    <a:p>
                      <a:pPr>
                        <a:defRPr sz="900"/>
                      </a:pPr>
                      <a:r>
                        <a:t>Marketing / acquisition</a:t>
                      </a:r>
                    </a:p>
                  </a:txBody>
                  <a:tcPr>
                    <a:solidFill>
                      <a:srgbClr val="E6F5E6"/>
                    </a:solidFill>
                  </a:tcPr>
                </a:tc>
                <a:tc>
                  <a:txBody>
                    <a:bodyPr/>
                    <a:lstStyle/>
                    <a:p>
                      <a:pPr algn="ctr">
                        <a:defRPr sz="900"/>
                      </a:pPr>
                      <a:r>
                        <a:t>-5</a:t>
                      </a:r>
                    </a:p>
                  </a:txBody>
                  <a:tcPr>
                    <a:solidFill>
                      <a:srgbClr val="E6F5E6"/>
                    </a:solidFill>
                  </a:tcPr>
                </a:tc>
                <a:tc>
                  <a:txBody>
                    <a:bodyPr/>
                    <a:lstStyle/>
                    <a:p>
                      <a:pPr algn="ctr">
                        <a:defRPr sz="900"/>
                      </a:pPr>
                      <a:r>
                        <a:t>-15</a:t>
                      </a:r>
                    </a:p>
                  </a:txBody>
                  <a:tcPr>
                    <a:solidFill>
                      <a:srgbClr val="E6F5E6"/>
                    </a:solidFill>
                  </a:tcPr>
                </a:tc>
                <a:tc>
                  <a:txBody>
                    <a:bodyPr/>
                    <a:lstStyle/>
                    <a:p>
                      <a:pPr algn="ctr">
                        <a:defRPr sz="900"/>
                      </a:pPr>
                      <a:r>
                        <a:t>-30</a:t>
                      </a:r>
                    </a:p>
                  </a:txBody>
                  <a:tcPr>
                    <a:solidFill>
                      <a:srgbClr val="E6F5E6"/>
                    </a:solidFill>
                  </a:tcPr>
                </a:tc>
              </a:tr>
              <a:tr h="316523">
                <a:tc>
                  <a:txBody>
                    <a:bodyPr/>
                    <a:lstStyle/>
                    <a:p>
                      <a:pPr>
                        <a:defRPr sz="900"/>
                      </a:pPr>
                      <a:r>
                        <a:t>Operations terrain</a:t>
                      </a:r>
                    </a:p>
                  </a:txBody>
                  <a:tcPr/>
                </a:tc>
                <a:tc>
                  <a:txBody>
                    <a:bodyPr/>
                    <a:lstStyle/>
                    <a:p>
                      <a:pPr algn="ctr">
                        <a:defRPr sz="900"/>
                      </a:pPr>
                      <a:r>
                        <a:t>-8</a:t>
                      </a:r>
                    </a:p>
                  </a:txBody>
                  <a:tcPr/>
                </a:tc>
                <a:tc>
                  <a:txBody>
                    <a:bodyPr/>
                    <a:lstStyle/>
                    <a:p>
                      <a:pPr algn="ctr">
                        <a:defRPr sz="900"/>
                      </a:pPr>
                      <a:r>
                        <a:t>-20</a:t>
                      </a:r>
                    </a:p>
                  </a:txBody>
                  <a:tcPr/>
                </a:tc>
                <a:tc>
                  <a:txBody>
                    <a:bodyPr/>
                    <a:lstStyle/>
                    <a:p>
                      <a:pPr algn="ctr">
                        <a:defRPr sz="900"/>
                      </a:pPr>
                      <a:r>
                        <a:t>-40</a:t>
                      </a:r>
                    </a:p>
                  </a:txBody>
                  <a:tcPr/>
                </a:tc>
              </a:tr>
              <a:tr h="316523">
                <a:tc>
                  <a:txBody>
                    <a:bodyPr/>
                    <a:lstStyle/>
                    <a:p>
                      <a:pPr>
                        <a:defRPr sz="900"/>
                      </a:pPr>
                      <a:r>
                        <a:t>Technologie / hebergement</a:t>
                      </a:r>
                    </a:p>
                  </a:txBody>
                  <a:tcPr>
                    <a:solidFill>
                      <a:srgbClr val="E6F5E6"/>
                    </a:solidFill>
                  </a:tcPr>
                </a:tc>
                <a:tc>
                  <a:txBody>
                    <a:bodyPr/>
                    <a:lstStyle/>
                    <a:p>
                      <a:pPr algn="ctr">
                        <a:defRPr sz="900"/>
                      </a:pPr>
                      <a:r>
                        <a:t>-4</a:t>
                      </a:r>
                    </a:p>
                  </a:txBody>
                  <a:tcPr>
                    <a:solidFill>
                      <a:srgbClr val="E6F5E6"/>
                    </a:solidFill>
                  </a:tcPr>
                </a:tc>
                <a:tc>
                  <a:txBody>
                    <a:bodyPr/>
                    <a:lstStyle/>
                    <a:p>
                      <a:pPr algn="ctr">
                        <a:defRPr sz="900"/>
                      </a:pPr>
                      <a:r>
                        <a:t>-8</a:t>
                      </a:r>
                    </a:p>
                  </a:txBody>
                  <a:tcPr>
                    <a:solidFill>
                      <a:srgbClr val="E6F5E6"/>
                    </a:solidFill>
                  </a:tcPr>
                </a:tc>
                <a:tc>
                  <a:txBody>
                    <a:bodyPr/>
                    <a:lstStyle/>
                    <a:p>
                      <a:pPr algn="ctr">
                        <a:defRPr sz="900"/>
                      </a:pPr>
                      <a:r>
                        <a:t>-15</a:t>
                      </a:r>
                    </a:p>
                  </a:txBody>
                  <a:tcPr>
                    <a:solidFill>
                      <a:srgbClr val="E6F5E6"/>
                    </a:solidFill>
                  </a:tcPr>
                </a:tc>
              </a:tr>
              <a:tr h="316523">
                <a:tc>
                  <a:txBody>
                    <a:bodyPr/>
                    <a:lstStyle/>
                    <a:p>
                      <a:pPr>
                        <a:defRPr sz="900" b="1"/>
                      </a:pPr>
                      <a:r>
                        <a:t>TOTAL CHARGES</a:t>
                      </a:r>
                    </a:p>
                  </a:txBody>
                  <a:tcPr/>
                </a:tc>
                <a:tc>
                  <a:txBody>
                    <a:bodyPr/>
                    <a:lstStyle/>
                    <a:p>
                      <a:pPr algn="ctr">
                        <a:defRPr sz="900" b="1"/>
                      </a:pPr>
                      <a:r>
                        <a:t>-47</a:t>
                      </a:r>
                    </a:p>
                  </a:txBody>
                  <a:tcPr/>
                </a:tc>
                <a:tc>
                  <a:txBody>
                    <a:bodyPr/>
                    <a:lstStyle/>
                    <a:p>
                      <a:pPr algn="ctr">
                        <a:defRPr sz="900" b="1"/>
                      </a:pPr>
                      <a:r>
                        <a:t>-108</a:t>
                      </a:r>
                    </a:p>
                  </a:txBody>
                  <a:tcPr/>
                </a:tc>
                <a:tc>
                  <a:txBody>
                    <a:bodyPr/>
                    <a:lstStyle/>
                    <a:p>
                      <a:pPr algn="ctr">
                        <a:defRPr sz="900" b="1"/>
                      </a:pPr>
                      <a:r>
                        <a:t>-225</a:t>
                      </a:r>
                    </a:p>
                  </a:txBody>
                  <a:tcPr/>
                </a:tc>
              </a:tr>
              <a:tr h="316524">
                <a:tc>
                  <a:txBody>
                    <a:bodyPr/>
                    <a:lstStyle/>
                    <a:p>
                      <a:pPr>
                        <a:defRPr sz="900" b="1"/>
                      </a:pPr>
                      <a:r>
                        <a:t>RESULTAT NET</a:t>
                      </a:r>
                    </a:p>
                  </a:txBody>
                  <a:tcPr>
                    <a:solidFill>
                      <a:srgbClr val="E6F5E6"/>
                    </a:solidFill>
                  </a:tcPr>
                </a:tc>
                <a:tc>
                  <a:txBody>
                    <a:bodyPr/>
                    <a:lstStyle/>
                    <a:p>
                      <a:pPr algn="ctr">
                        <a:defRPr sz="900" b="1"/>
                      </a:pPr>
                      <a:r>
                        <a:t>-31</a:t>
                      </a:r>
                    </a:p>
                  </a:txBody>
                  <a:tcPr>
                    <a:solidFill>
                      <a:srgbClr val="E6F5E6"/>
                    </a:solidFill>
                  </a:tcPr>
                </a:tc>
                <a:tc>
                  <a:txBody>
                    <a:bodyPr/>
                    <a:lstStyle/>
                    <a:p>
                      <a:pPr algn="ctr">
                        <a:defRPr sz="900" b="1"/>
                      </a:pPr>
                      <a:r>
                        <a:t>-15</a:t>
                      </a:r>
                    </a:p>
                  </a:txBody>
                  <a:tcPr>
                    <a:solidFill>
                      <a:srgbClr val="E6F5E6"/>
                    </a:solidFill>
                  </a:tcPr>
                </a:tc>
                <a:tc>
                  <a:txBody>
                    <a:bodyPr/>
                    <a:lstStyle/>
                    <a:p>
                      <a:pPr algn="ctr">
                        <a:defRPr sz="900" b="1"/>
                      </a:pPr>
                      <a:r>
                        <a:t>+140</a:t>
                      </a:r>
                    </a:p>
                  </a:txBody>
                  <a:tcPr>
                    <a:solidFill>
                      <a:srgbClr val="E6F5E6"/>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9. TRESORERIE ET UTILISATION DU FINANCEMENT</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graphicFrame>
        <p:nvGraphicFramePr>
          <p:cNvPr id="5" name="Table 4"/>
          <p:cNvGraphicFramePr>
            <a:graphicFrameLocks noGrp="1"/>
          </p:cNvGraphicFramePr>
          <p:nvPr/>
        </p:nvGraphicFramePr>
        <p:xfrm>
          <a:off x="274320" y="1280160"/>
          <a:ext cx="5669280" cy="2011680"/>
        </p:xfrm>
        <a:graphic>
          <a:graphicData uri="http://schemas.openxmlformats.org/drawingml/2006/table">
            <a:tbl>
              <a:tblPr firstRow="1" bandRow="1">
                <a:tableStyleId>{5C22544A-7EE6-4342-B048-85BDC9FD1C3A}</a:tableStyleId>
              </a:tblPr>
              <a:tblGrid>
                <a:gridCol w="1417320"/>
                <a:gridCol w="1417320"/>
                <a:gridCol w="1417320"/>
                <a:gridCol w="1417320"/>
              </a:tblGrid>
              <a:tr h="335280">
                <a:tc>
                  <a:txBody>
                    <a:bodyPr/>
                    <a:lstStyle/>
                    <a:p>
                      <a:pPr algn="ctr">
                        <a:defRPr sz="1000" b="1">
                          <a:solidFill>
                            <a:srgbClr val="FFFFFF"/>
                          </a:solidFill>
                        </a:defRPr>
                      </a:pPr>
                      <a:r>
                        <a:t>Poste</a:t>
                      </a:r>
                    </a:p>
                  </a:txBody>
                  <a:tcPr>
                    <a:solidFill>
                      <a:srgbClr val="228B22"/>
                    </a:solidFill>
                  </a:tcPr>
                </a:tc>
                <a:tc>
                  <a:txBody>
                    <a:bodyPr/>
                    <a:lstStyle/>
                    <a:p>
                      <a:pPr algn="ctr">
                        <a:defRPr sz="1000" b="1">
                          <a:solidFill>
                            <a:srgbClr val="FFFFFF"/>
                          </a:solidFill>
                        </a:defRPr>
                      </a:pPr>
                      <a:r>
                        <a:t>An 1</a:t>
                      </a:r>
                    </a:p>
                  </a:txBody>
                  <a:tcPr>
                    <a:solidFill>
                      <a:srgbClr val="228B22"/>
                    </a:solidFill>
                  </a:tcPr>
                </a:tc>
                <a:tc>
                  <a:txBody>
                    <a:bodyPr/>
                    <a:lstStyle/>
                    <a:p>
                      <a:pPr algn="ctr">
                        <a:defRPr sz="1000" b="1">
                          <a:solidFill>
                            <a:srgbClr val="FFFFFF"/>
                          </a:solidFill>
                        </a:defRPr>
                      </a:pPr>
                      <a:r>
                        <a:t>An 2</a:t>
                      </a:r>
                    </a:p>
                  </a:txBody>
                  <a:tcPr>
                    <a:solidFill>
                      <a:srgbClr val="228B22"/>
                    </a:solidFill>
                  </a:tcPr>
                </a:tc>
                <a:tc>
                  <a:txBody>
                    <a:bodyPr/>
                    <a:lstStyle/>
                    <a:p>
                      <a:pPr algn="ctr">
                        <a:defRPr sz="1000" b="1">
                          <a:solidFill>
                            <a:srgbClr val="FFFFFF"/>
                          </a:solidFill>
                        </a:defRPr>
                      </a:pPr>
                      <a:r>
                        <a:t>An 3</a:t>
                      </a:r>
                    </a:p>
                  </a:txBody>
                  <a:tcPr>
                    <a:solidFill>
                      <a:srgbClr val="228B22"/>
                    </a:solidFill>
                  </a:tcPr>
                </a:tc>
              </a:tr>
              <a:tr h="335280">
                <a:tc>
                  <a:txBody>
                    <a:bodyPr/>
                    <a:lstStyle/>
                    <a:p>
                      <a:pPr>
                        <a:defRPr sz="900"/>
                      </a:pPr>
                      <a:r>
                        <a:t>Tresorerie debut</a:t>
                      </a:r>
                    </a:p>
                  </a:txBody>
                  <a:tcPr/>
                </a:tc>
                <a:tc>
                  <a:txBody>
                    <a:bodyPr/>
                    <a:lstStyle/>
                    <a:p>
                      <a:pPr algn="ctr">
                        <a:defRPr sz="900"/>
                      </a:pPr>
                      <a:r>
                        <a:t>0</a:t>
                      </a:r>
                    </a:p>
                  </a:txBody>
                  <a:tcPr/>
                </a:tc>
                <a:tc>
                  <a:txBody>
                    <a:bodyPr/>
                    <a:lstStyle/>
                    <a:p>
                      <a:pPr algn="ctr">
                        <a:defRPr sz="900"/>
                      </a:pPr>
                      <a:r>
                        <a:t>19</a:t>
                      </a:r>
                    </a:p>
                  </a:txBody>
                  <a:tcPr/>
                </a:tc>
                <a:tc>
                  <a:txBody>
                    <a:bodyPr/>
                    <a:lstStyle/>
                    <a:p>
                      <a:pPr algn="ctr">
                        <a:defRPr sz="900"/>
                      </a:pPr>
                      <a:r>
                        <a:t>54</a:t>
                      </a:r>
                    </a:p>
                  </a:txBody>
                  <a:tcPr/>
                </a:tc>
              </a:tr>
              <a:tr h="335280">
                <a:tc>
                  <a:txBody>
                    <a:bodyPr/>
                    <a:lstStyle/>
                    <a:p>
                      <a:pPr>
                        <a:defRPr sz="900"/>
                      </a:pPr>
                      <a:r>
                        <a:t>Financement POESAM</a:t>
                      </a:r>
                    </a:p>
                  </a:txBody>
                  <a:tcPr>
                    <a:solidFill>
                      <a:srgbClr val="E6F5E6"/>
                    </a:solidFill>
                  </a:tcPr>
                </a:tc>
                <a:tc>
                  <a:txBody>
                    <a:bodyPr/>
                    <a:lstStyle/>
                    <a:p>
                      <a:pPr algn="ctr">
                        <a:defRPr sz="900"/>
                      </a:pPr>
                      <a:r>
                        <a:t>50</a:t>
                      </a:r>
                    </a:p>
                  </a:txBody>
                  <a:tcPr>
                    <a:solidFill>
                      <a:srgbClr val="E6F5E6"/>
                    </a:solidFill>
                  </a:tcPr>
                </a:tc>
                <a:tc>
                  <a:txBody>
                    <a:bodyPr/>
                    <a:lstStyle/>
                    <a:p>
                      <a:pPr algn="ctr">
                        <a:defRPr sz="900"/>
                      </a:pPr>
                      <a:r>
                        <a:t>0</a:t>
                      </a:r>
                    </a:p>
                  </a:txBody>
                  <a:tcPr>
                    <a:solidFill>
                      <a:srgbClr val="E6F5E6"/>
                    </a:solidFill>
                  </a:tcPr>
                </a:tc>
                <a:tc>
                  <a:txBody>
                    <a:bodyPr/>
                    <a:lstStyle/>
                    <a:p>
                      <a:pPr algn="ctr">
                        <a:defRPr sz="900"/>
                      </a:pPr>
                      <a:r>
                        <a:t>0</a:t>
                      </a:r>
                    </a:p>
                  </a:txBody>
                  <a:tcPr>
                    <a:solidFill>
                      <a:srgbClr val="E6F5E6"/>
                    </a:solidFill>
                  </a:tcPr>
                </a:tc>
              </a:tr>
              <a:tr h="335280">
                <a:tc>
                  <a:txBody>
                    <a:bodyPr/>
                    <a:lstStyle/>
                    <a:p>
                      <a:pPr>
                        <a:defRPr sz="900"/>
                      </a:pPr>
                      <a:r>
                        <a:t>Autres financements</a:t>
                      </a:r>
                    </a:p>
                  </a:txBody>
                  <a:tcPr/>
                </a:tc>
                <a:tc>
                  <a:txBody>
                    <a:bodyPr/>
                    <a:lstStyle/>
                    <a:p>
                      <a:pPr algn="ctr">
                        <a:defRPr sz="900"/>
                      </a:pPr>
                      <a:r>
                        <a:t>0</a:t>
                      </a:r>
                    </a:p>
                  </a:txBody>
                  <a:tcPr/>
                </a:tc>
                <a:tc>
                  <a:txBody>
                    <a:bodyPr/>
                    <a:lstStyle/>
                    <a:p>
                      <a:pPr algn="ctr">
                        <a:defRPr sz="900"/>
                      </a:pPr>
                      <a:r>
                        <a:t>50</a:t>
                      </a:r>
                    </a:p>
                  </a:txBody>
                  <a:tcPr/>
                </a:tc>
                <a:tc>
                  <a:txBody>
                    <a:bodyPr/>
                    <a:lstStyle/>
                    <a:p>
                      <a:pPr algn="ctr">
                        <a:defRPr sz="900"/>
                      </a:pPr>
                      <a:r>
                        <a:t>0</a:t>
                      </a:r>
                    </a:p>
                  </a:txBody>
                  <a:tcPr/>
                </a:tc>
              </a:tr>
              <a:tr h="335280">
                <a:tc>
                  <a:txBody>
                    <a:bodyPr/>
                    <a:lstStyle/>
                    <a:p>
                      <a:pPr>
                        <a:defRPr sz="900"/>
                      </a:pPr>
                      <a:r>
                        <a:t>Resultat d'exploitation</a:t>
                      </a:r>
                    </a:p>
                  </a:txBody>
                  <a:tcPr>
                    <a:solidFill>
                      <a:srgbClr val="E6F5E6"/>
                    </a:solidFill>
                  </a:tcPr>
                </a:tc>
                <a:tc>
                  <a:txBody>
                    <a:bodyPr/>
                    <a:lstStyle/>
                    <a:p>
                      <a:pPr algn="ctr">
                        <a:defRPr sz="900"/>
                      </a:pPr>
                      <a:r>
                        <a:t>-31</a:t>
                      </a:r>
                    </a:p>
                  </a:txBody>
                  <a:tcPr>
                    <a:solidFill>
                      <a:srgbClr val="E6F5E6"/>
                    </a:solidFill>
                  </a:tcPr>
                </a:tc>
                <a:tc>
                  <a:txBody>
                    <a:bodyPr/>
                    <a:lstStyle/>
                    <a:p>
                      <a:pPr algn="ctr">
                        <a:defRPr sz="900"/>
                      </a:pPr>
                      <a:r>
                        <a:t>-15</a:t>
                      </a:r>
                    </a:p>
                  </a:txBody>
                  <a:tcPr>
                    <a:solidFill>
                      <a:srgbClr val="E6F5E6"/>
                    </a:solidFill>
                  </a:tcPr>
                </a:tc>
                <a:tc>
                  <a:txBody>
                    <a:bodyPr/>
                    <a:lstStyle/>
                    <a:p>
                      <a:pPr algn="ctr">
                        <a:defRPr sz="900"/>
                      </a:pPr>
                      <a:r>
                        <a:t>+140</a:t>
                      </a:r>
                    </a:p>
                  </a:txBody>
                  <a:tcPr>
                    <a:solidFill>
                      <a:srgbClr val="E6F5E6"/>
                    </a:solidFill>
                  </a:tcPr>
                </a:tc>
              </a:tr>
              <a:tr h="335280">
                <a:tc>
                  <a:txBody>
                    <a:bodyPr/>
                    <a:lstStyle/>
                    <a:p>
                      <a:pPr>
                        <a:defRPr sz="900" b="1"/>
                      </a:pPr>
                      <a:r>
                        <a:t>Tresorerie fin</a:t>
                      </a:r>
                    </a:p>
                  </a:txBody>
                  <a:tcPr/>
                </a:tc>
                <a:tc>
                  <a:txBody>
                    <a:bodyPr/>
                    <a:lstStyle/>
                    <a:p>
                      <a:pPr algn="ctr">
                        <a:defRPr sz="900" b="1"/>
                      </a:pPr>
                      <a:r>
                        <a:t>19</a:t>
                      </a:r>
                    </a:p>
                  </a:txBody>
                  <a:tcPr/>
                </a:tc>
                <a:tc>
                  <a:txBody>
                    <a:bodyPr/>
                    <a:lstStyle/>
                    <a:p>
                      <a:pPr algn="ctr">
                        <a:defRPr sz="900" b="1"/>
                      </a:pPr>
                      <a:r>
                        <a:t>54</a:t>
                      </a:r>
                    </a:p>
                  </a:txBody>
                  <a:tcPr/>
                </a:tc>
                <a:tc>
                  <a:txBody>
                    <a:bodyPr/>
                    <a:lstStyle/>
                    <a:p>
                      <a:pPr algn="ctr">
                        <a:defRPr sz="900" b="1"/>
                      </a:pPr>
                      <a:r>
                        <a:t>194</a:t>
                      </a:r>
                    </a:p>
                  </a:txBody>
                  <a:tcPr/>
                </a:tc>
              </a:tr>
            </a:tbl>
          </a:graphicData>
        </a:graphic>
      </p:graphicFrame>
      <p:sp>
        <p:nvSpPr>
          <p:cNvPr id="6" name="TextBox 5"/>
          <p:cNvSpPr txBox="1"/>
          <p:nvPr/>
        </p:nvSpPr>
        <p:spPr>
          <a:xfrm>
            <a:off x="6400800" y="1280160"/>
            <a:ext cx="5486400" cy="365760"/>
          </a:xfrm>
          <a:prstGeom prst="rect">
            <a:avLst/>
          </a:prstGeom>
          <a:noFill/>
        </p:spPr>
        <p:txBody>
          <a:bodyPr wrap="square">
            <a:spAutoFit/>
          </a:bodyPr>
          <a:lstStyle/>
          <a:p>
            <a:pPr algn="l">
              <a:defRPr sz="1400" b="1">
                <a:solidFill>
                  <a:srgbClr val="228B22"/>
                </a:solidFill>
                <a:latin typeface="Calibri"/>
              </a:defRPr>
            </a:pPr>
            <a:r>
              <a:t>Repartition du financement (50 M FCFA)</a:t>
            </a:r>
          </a:p>
        </p:txBody>
      </p:sp>
      <p:graphicFrame>
        <p:nvGraphicFramePr>
          <p:cNvPr id="7" name="Table 6"/>
          <p:cNvGraphicFramePr>
            <a:graphicFrameLocks noGrp="1"/>
          </p:cNvGraphicFramePr>
          <p:nvPr/>
        </p:nvGraphicFramePr>
        <p:xfrm>
          <a:off x="6400800" y="1828800"/>
          <a:ext cx="5486400" cy="2560320"/>
        </p:xfrm>
        <a:graphic>
          <a:graphicData uri="http://schemas.openxmlformats.org/drawingml/2006/table">
            <a:tbl>
              <a:tblPr firstRow="1" bandRow="1">
                <a:tableStyleId>{5C22544A-7EE6-4342-B048-85BDC9FD1C3A}</a:tableStyleId>
              </a:tblPr>
              <a:tblGrid>
                <a:gridCol w="1828800"/>
                <a:gridCol w="1828800"/>
                <a:gridCol w="1828800"/>
              </a:tblGrid>
              <a:tr h="365760">
                <a:tc>
                  <a:txBody>
                    <a:bodyPr/>
                    <a:lstStyle/>
                    <a:p>
                      <a:pPr algn="ctr">
                        <a:defRPr sz="1000" b="1">
                          <a:solidFill>
                            <a:srgbClr val="FFFFFF"/>
                          </a:solidFill>
                        </a:defRPr>
                      </a:pPr>
                      <a:r>
                        <a:t>Poste</a:t>
                      </a:r>
                    </a:p>
                  </a:txBody>
                  <a:tcPr>
                    <a:solidFill>
                      <a:srgbClr val="228B22"/>
                    </a:solidFill>
                  </a:tcPr>
                </a:tc>
                <a:tc>
                  <a:txBody>
                    <a:bodyPr/>
                    <a:lstStyle/>
                    <a:p>
                      <a:pPr algn="ctr">
                        <a:defRPr sz="1000" b="1">
                          <a:solidFill>
                            <a:srgbClr val="FFFFFF"/>
                          </a:solidFill>
                        </a:defRPr>
                      </a:pPr>
                      <a:r>
                        <a:t>Montant</a:t>
                      </a:r>
                    </a:p>
                  </a:txBody>
                  <a:tcPr>
                    <a:solidFill>
                      <a:srgbClr val="228B22"/>
                    </a:solidFill>
                  </a:tcPr>
                </a:tc>
                <a:tc>
                  <a:txBody>
                    <a:bodyPr/>
                    <a:lstStyle/>
                    <a:p>
                      <a:pPr algn="ctr">
                        <a:defRPr sz="1000" b="1">
                          <a:solidFill>
                            <a:srgbClr val="FFFFFF"/>
                          </a:solidFill>
                        </a:defRPr>
                      </a:pPr>
                      <a:r>
                        <a:t>Part</a:t>
                      </a:r>
                    </a:p>
                  </a:txBody>
                  <a:tcPr>
                    <a:solidFill>
                      <a:srgbClr val="228B22"/>
                    </a:solidFill>
                  </a:tcPr>
                </a:tc>
              </a:tr>
              <a:tr h="365760">
                <a:tc>
                  <a:txBody>
                    <a:bodyPr/>
                    <a:lstStyle/>
                    <a:p>
                      <a:pPr>
                        <a:defRPr sz="900"/>
                      </a:pPr>
                      <a:r>
                        <a:t>Deploiement hubs solaires (x4)</a:t>
                      </a:r>
                    </a:p>
                  </a:txBody>
                  <a:tcPr/>
                </a:tc>
                <a:tc>
                  <a:txBody>
                    <a:bodyPr/>
                    <a:lstStyle/>
                    <a:p>
                      <a:pPr algn="ctr">
                        <a:defRPr sz="900"/>
                      </a:pPr>
                      <a:r>
                        <a:t>20 M FCFA</a:t>
                      </a:r>
                    </a:p>
                  </a:txBody>
                  <a:tcPr/>
                </a:tc>
                <a:tc>
                  <a:txBody>
                    <a:bodyPr/>
                    <a:lstStyle/>
                    <a:p>
                      <a:pPr algn="ctr">
                        <a:defRPr sz="900"/>
                      </a:pPr>
                      <a:r>
                        <a:t>40%</a:t>
                      </a:r>
                    </a:p>
                  </a:txBody>
                  <a:tcPr/>
                </a:tc>
              </a:tr>
              <a:tr h="365760">
                <a:tc>
                  <a:txBody>
                    <a:bodyPr/>
                    <a:lstStyle/>
                    <a:p>
                      <a:pPr>
                        <a:defRPr sz="900"/>
                      </a:pPr>
                      <a:r>
                        <a:t>Developpement plateforme</a:t>
                      </a:r>
                    </a:p>
                  </a:txBody>
                  <a:tcPr>
                    <a:solidFill>
                      <a:srgbClr val="E6F5E6"/>
                    </a:solidFill>
                  </a:tcPr>
                </a:tc>
                <a:tc>
                  <a:txBody>
                    <a:bodyPr/>
                    <a:lstStyle/>
                    <a:p>
                      <a:pPr algn="ctr">
                        <a:defRPr sz="900"/>
                      </a:pPr>
                      <a:r>
                        <a:t>10 M FCFA</a:t>
                      </a:r>
                    </a:p>
                  </a:txBody>
                  <a:tcPr>
                    <a:solidFill>
                      <a:srgbClr val="E6F5E6"/>
                    </a:solidFill>
                  </a:tcPr>
                </a:tc>
                <a:tc>
                  <a:txBody>
                    <a:bodyPr/>
                    <a:lstStyle/>
                    <a:p>
                      <a:pPr algn="ctr">
                        <a:defRPr sz="900"/>
                      </a:pPr>
                      <a:r>
                        <a:t>20%</a:t>
                      </a:r>
                    </a:p>
                  </a:txBody>
                  <a:tcPr>
                    <a:solidFill>
                      <a:srgbClr val="E6F5E6"/>
                    </a:solidFill>
                  </a:tcPr>
                </a:tc>
              </a:tr>
              <a:tr h="365760">
                <a:tc>
                  <a:txBody>
                    <a:bodyPr/>
                    <a:lstStyle/>
                    <a:p>
                      <a:pPr>
                        <a:defRPr sz="900"/>
                      </a:pPr>
                      <a:r>
                        <a:t>Operations terrain et formation</a:t>
                      </a:r>
                    </a:p>
                  </a:txBody>
                  <a:tcPr/>
                </a:tc>
                <a:tc>
                  <a:txBody>
                    <a:bodyPr/>
                    <a:lstStyle/>
                    <a:p>
                      <a:pPr algn="ctr">
                        <a:defRPr sz="900"/>
                      </a:pPr>
                      <a:r>
                        <a:t>8 M FCFA</a:t>
                      </a:r>
                    </a:p>
                  </a:txBody>
                  <a:tcPr/>
                </a:tc>
                <a:tc>
                  <a:txBody>
                    <a:bodyPr/>
                    <a:lstStyle/>
                    <a:p>
                      <a:pPr algn="ctr">
                        <a:defRPr sz="900"/>
                      </a:pPr>
                      <a:r>
                        <a:t>16%</a:t>
                      </a:r>
                    </a:p>
                  </a:txBody>
                  <a:tcPr/>
                </a:tc>
              </a:tr>
              <a:tr h="365760">
                <a:tc>
                  <a:txBody>
                    <a:bodyPr/>
                    <a:lstStyle/>
                    <a:p>
                      <a:pPr>
                        <a:defRPr sz="900"/>
                      </a:pPr>
                      <a:r>
                        <a:t>Marketing et acquisition</a:t>
                      </a:r>
                    </a:p>
                  </a:txBody>
                  <a:tcPr>
                    <a:solidFill>
                      <a:srgbClr val="E6F5E6"/>
                    </a:solidFill>
                  </a:tcPr>
                </a:tc>
                <a:tc>
                  <a:txBody>
                    <a:bodyPr/>
                    <a:lstStyle/>
                    <a:p>
                      <a:pPr algn="ctr">
                        <a:defRPr sz="900"/>
                      </a:pPr>
                      <a:r>
                        <a:t>5 M FCFA</a:t>
                      </a:r>
                    </a:p>
                  </a:txBody>
                  <a:tcPr>
                    <a:solidFill>
                      <a:srgbClr val="E6F5E6"/>
                    </a:solidFill>
                  </a:tcPr>
                </a:tc>
                <a:tc>
                  <a:txBody>
                    <a:bodyPr/>
                    <a:lstStyle/>
                    <a:p>
                      <a:pPr algn="ctr">
                        <a:defRPr sz="900"/>
                      </a:pPr>
                      <a:r>
                        <a:t>10%</a:t>
                      </a:r>
                    </a:p>
                  </a:txBody>
                  <a:tcPr>
                    <a:solidFill>
                      <a:srgbClr val="E6F5E6"/>
                    </a:solidFill>
                  </a:tcPr>
                </a:tc>
              </a:tr>
              <a:tr h="365760">
                <a:tc>
                  <a:txBody>
                    <a:bodyPr/>
                    <a:lstStyle/>
                    <a:p>
                      <a:pPr>
                        <a:defRPr sz="900"/>
                      </a:pPr>
                      <a:r>
                        <a:t>Fonds de roulement</a:t>
                      </a:r>
                    </a:p>
                  </a:txBody>
                  <a:tcPr/>
                </a:tc>
                <a:tc>
                  <a:txBody>
                    <a:bodyPr/>
                    <a:lstStyle/>
                    <a:p>
                      <a:pPr algn="ctr">
                        <a:defRPr sz="900"/>
                      </a:pPr>
                      <a:r>
                        <a:t>4 M FCFA</a:t>
                      </a:r>
                    </a:p>
                  </a:txBody>
                  <a:tcPr/>
                </a:tc>
                <a:tc>
                  <a:txBody>
                    <a:bodyPr/>
                    <a:lstStyle/>
                    <a:p>
                      <a:pPr algn="ctr">
                        <a:defRPr sz="900"/>
                      </a:pPr>
                      <a:r>
                        <a:t>8%</a:t>
                      </a:r>
                    </a:p>
                  </a:txBody>
                  <a:tcPr/>
                </a:tc>
              </a:tr>
              <a:tr h="365760">
                <a:tc>
                  <a:txBody>
                    <a:bodyPr/>
                    <a:lstStyle/>
                    <a:p>
                      <a:pPr>
                        <a:defRPr sz="900"/>
                      </a:pPr>
                      <a:r>
                        <a:t>Conformite et legal</a:t>
                      </a:r>
                    </a:p>
                  </a:txBody>
                  <a:tcPr>
                    <a:solidFill>
                      <a:srgbClr val="E6F5E6"/>
                    </a:solidFill>
                  </a:tcPr>
                </a:tc>
                <a:tc>
                  <a:txBody>
                    <a:bodyPr/>
                    <a:lstStyle/>
                    <a:p>
                      <a:pPr algn="ctr">
                        <a:defRPr sz="900"/>
                      </a:pPr>
                      <a:r>
                        <a:t>3 M FCFA</a:t>
                      </a:r>
                    </a:p>
                  </a:txBody>
                  <a:tcPr>
                    <a:solidFill>
                      <a:srgbClr val="E6F5E6"/>
                    </a:solidFill>
                  </a:tcPr>
                </a:tc>
                <a:tc>
                  <a:txBody>
                    <a:bodyPr/>
                    <a:lstStyle/>
                    <a:p>
                      <a:pPr algn="ctr">
                        <a:defRPr sz="900"/>
                      </a:pPr>
                      <a:r>
                        <a:t>6%</a:t>
                      </a:r>
                    </a:p>
                  </a:txBody>
                  <a:tcPr>
                    <a:solidFill>
                      <a:srgbClr val="E6F5E6"/>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10. IMPACT SOCIAL ET ENVIRONNEMENTAL</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188720"/>
            <a:ext cx="5486400" cy="365760"/>
          </a:xfrm>
          <a:prstGeom prst="rect">
            <a:avLst/>
          </a:prstGeom>
          <a:noFill/>
        </p:spPr>
        <p:txBody>
          <a:bodyPr wrap="square">
            <a:spAutoFit/>
          </a:bodyPr>
          <a:lstStyle/>
          <a:p>
            <a:pPr algn="l">
              <a:defRPr sz="1600" b="1">
                <a:solidFill>
                  <a:srgbClr val="228B22"/>
                </a:solidFill>
                <a:latin typeface="Calibri"/>
              </a:defRPr>
            </a:pPr>
            <a:r>
              <a:t>Impact social</a:t>
            </a:r>
          </a:p>
        </p:txBody>
      </p:sp>
      <p:graphicFrame>
        <p:nvGraphicFramePr>
          <p:cNvPr id="6" name="Table 5"/>
          <p:cNvGraphicFramePr>
            <a:graphicFrameLocks noGrp="1"/>
          </p:cNvGraphicFramePr>
          <p:nvPr/>
        </p:nvGraphicFramePr>
        <p:xfrm>
          <a:off x="274320" y="1645920"/>
          <a:ext cx="5669280" cy="2743200"/>
        </p:xfrm>
        <a:graphic>
          <a:graphicData uri="http://schemas.openxmlformats.org/drawingml/2006/table">
            <a:tbl>
              <a:tblPr firstRow="1" bandRow="1">
                <a:tableStyleId>{5C22544A-7EE6-4342-B048-85BDC9FD1C3A}</a:tableStyleId>
              </a:tblPr>
              <a:tblGrid>
                <a:gridCol w="1889760"/>
                <a:gridCol w="1889760"/>
                <a:gridCol w="1889760"/>
              </a:tblGrid>
              <a:tr h="342900">
                <a:tc>
                  <a:txBody>
                    <a:bodyPr/>
                    <a:lstStyle/>
                    <a:p>
                      <a:pPr algn="ctr">
                        <a:defRPr sz="1000" b="1">
                          <a:solidFill>
                            <a:srgbClr val="FFFFFF"/>
                          </a:solidFill>
                        </a:defRPr>
                      </a:pPr>
                      <a:r>
                        <a:t>Indicateur</a:t>
                      </a:r>
                    </a:p>
                  </a:txBody>
                  <a:tcPr>
                    <a:solidFill>
                      <a:srgbClr val="228B22"/>
                    </a:solidFill>
                  </a:tcPr>
                </a:tc>
                <a:tc>
                  <a:txBody>
                    <a:bodyPr/>
                    <a:lstStyle/>
                    <a:p>
                      <a:pPr algn="ctr">
                        <a:defRPr sz="1000" b="1">
                          <a:solidFill>
                            <a:srgbClr val="FFFFFF"/>
                          </a:solidFill>
                        </a:defRPr>
                      </a:pPr>
                      <a:r>
                        <a:t>Objectif</a:t>
                      </a:r>
                    </a:p>
                  </a:txBody>
                  <a:tcPr>
                    <a:solidFill>
                      <a:srgbClr val="228B22"/>
                    </a:solidFill>
                  </a:tcPr>
                </a:tc>
                <a:tc>
                  <a:txBody>
                    <a:bodyPr/>
                    <a:lstStyle/>
                    <a:p>
                      <a:pPr algn="ctr">
                        <a:defRPr sz="1000" b="1">
                          <a:solidFill>
                            <a:srgbClr val="FFFFFF"/>
                          </a:solidFill>
                        </a:defRPr>
                      </a:pPr>
                      <a:r>
                        <a:t>Horizon</a:t>
                      </a:r>
                    </a:p>
                  </a:txBody>
                  <a:tcPr>
                    <a:solidFill>
                      <a:srgbClr val="228B22"/>
                    </a:solidFill>
                  </a:tcPr>
                </a:tc>
              </a:tr>
              <a:tr h="342900">
                <a:tc>
                  <a:txBody>
                    <a:bodyPr/>
                    <a:lstStyle/>
                    <a:p>
                      <a:pPr>
                        <a:defRPr sz="900"/>
                      </a:pPr>
                      <a:r>
                        <a:t>Producteurs connectes</a:t>
                      </a:r>
                    </a:p>
                  </a:txBody>
                  <a:tcPr/>
                </a:tc>
                <a:tc>
                  <a:txBody>
                    <a:bodyPr/>
                    <a:lstStyle/>
                    <a:p>
                      <a:pPr algn="ctr">
                        <a:defRPr sz="900"/>
                      </a:pPr>
                      <a:r>
                        <a:t>100</a:t>
                      </a:r>
                    </a:p>
                  </a:txBody>
                  <a:tcPr/>
                </a:tc>
                <a:tc>
                  <a:txBody>
                    <a:bodyPr/>
                    <a:lstStyle/>
                    <a:p>
                      <a:pPr algn="ctr">
                        <a:defRPr sz="900"/>
                      </a:pPr>
                      <a:r>
                        <a:t>An 1</a:t>
                      </a:r>
                    </a:p>
                  </a:txBody>
                  <a:tcPr/>
                </a:tc>
              </a:tr>
              <a:tr h="342900">
                <a:tc>
                  <a:txBody>
                    <a:bodyPr/>
                    <a:lstStyle/>
                    <a:p>
                      <a:pPr>
                        <a:defRPr sz="900"/>
                      </a:pPr>
                      <a:r>
                        <a:t>Dont femmes productrices</a:t>
                      </a:r>
                    </a:p>
                  </a:txBody>
                  <a:tcPr>
                    <a:solidFill>
                      <a:srgbClr val="E6F5E6"/>
                    </a:solidFill>
                  </a:tcPr>
                </a:tc>
                <a:tc>
                  <a:txBody>
                    <a:bodyPr/>
                    <a:lstStyle/>
                    <a:p>
                      <a:pPr algn="ctr">
                        <a:defRPr sz="900"/>
                      </a:pPr>
                      <a:r>
                        <a:t>&gt; 40%</a:t>
                      </a:r>
                    </a:p>
                  </a:txBody>
                  <a:tcPr>
                    <a:solidFill>
                      <a:srgbClr val="E6F5E6"/>
                    </a:solidFill>
                  </a:tcPr>
                </a:tc>
                <a:tc>
                  <a:txBody>
                    <a:bodyPr/>
                    <a:lstStyle/>
                    <a:p>
                      <a:pPr algn="ctr">
                        <a:defRPr sz="900"/>
                      </a:pPr>
                      <a:r>
                        <a:t>An 1</a:t>
                      </a:r>
                    </a:p>
                  </a:txBody>
                  <a:tcPr>
                    <a:solidFill>
                      <a:srgbClr val="E6F5E6"/>
                    </a:solidFill>
                  </a:tcPr>
                </a:tc>
              </a:tr>
              <a:tr h="342900">
                <a:tc>
                  <a:txBody>
                    <a:bodyPr/>
                    <a:lstStyle/>
                    <a:p>
                      <a:pPr>
                        <a:defRPr sz="900"/>
                      </a:pPr>
                      <a:r>
                        <a:t>Cooperatives actives</a:t>
                      </a:r>
                    </a:p>
                  </a:txBody>
                  <a:tcPr/>
                </a:tc>
                <a:tc>
                  <a:txBody>
                    <a:bodyPr/>
                    <a:lstStyle/>
                    <a:p>
                      <a:pPr algn="ctr">
                        <a:defRPr sz="900"/>
                      </a:pPr>
                      <a:r>
                        <a:t>3</a:t>
                      </a:r>
                    </a:p>
                  </a:txBody>
                  <a:tcPr/>
                </a:tc>
                <a:tc>
                  <a:txBody>
                    <a:bodyPr/>
                    <a:lstStyle/>
                    <a:p>
                      <a:pPr algn="ctr">
                        <a:defRPr sz="900"/>
                      </a:pPr>
                      <a:r>
                        <a:t>An 1</a:t>
                      </a:r>
                    </a:p>
                  </a:txBody>
                  <a:tcPr/>
                </a:tc>
              </a:tr>
              <a:tr h="342900">
                <a:tc>
                  <a:txBody>
                    <a:bodyPr/>
                    <a:lstStyle/>
                    <a:p>
                      <a:pPr>
                        <a:defRPr sz="900"/>
                      </a:pPr>
                      <a:r>
                        <a:t>Acces credit formel</a:t>
                      </a:r>
                    </a:p>
                  </a:txBody>
                  <a:tcPr>
                    <a:solidFill>
                      <a:srgbClr val="E6F5E6"/>
                    </a:solidFill>
                  </a:tcPr>
                </a:tc>
                <a:tc>
                  <a:txBody>
                    <a:bodyPr/>
                    <a:lstStyle/>
                    <a:p>
                      <a:pPr algn="ctr">
                        <a:defRPr sz="900"/>
                      </a:pPr>
                      <a:r>
                        <a:t>30 producteurs</a:t>
                      </a:r>
                    </a:p>
                  </a:txBody>
                  <a:tcPr>
                    <a:solidFill>
                      <a:srgbClr val="E6F5E6"/>
                    </a:solidFill>
                  </a:tcPr>
                </a:tc>
                <a:tc>
                  <a:txBody>
                    <a:bodyPr/>
                    <a:lstStyle/>
                    <a:p>
                      <a:pPr algn="ctr">
                        <a:defRPr sz="900"/>
                      </a:pPr>
                      <a:r>
                        <a:t>An 1</a:t>
                      </a:r>
                    </a:p>
                  </a:txBody>
                  <a:tcPr>
                    <a:solidFill>
                      <a:srgbClr val="E6F5E6"/>
                    </a:solidFill>
                  </a:tcPr>
                </a:tc>
              </a:tr>
              <a:tr h="342900">
                <a:tc>
                  <a:txBody>
                    <a:bodyPr/>
                    <a:lstStyle/>
                    <a:p>
                      <a:pPr>
                        <a:defRPr sz="900"/>
                      </a:pPr>
                      <a:r>
                        <a:t>Revenu additionnel moyen</a:t>
                      </a:r>
                    </a:p>
                  </a:txBody>
                  <a:tcPr/>
                </a:tc>
                <a:tc>
                  <a:txBody>
                    <a:bodyPr/>
                    <a:lstStyle/>
                    <a:p>
                      <a:pPr algn="ctr">
                        <a:defRPr sz="900"/>
                      </a:pPr>
                      <a:r>
                        <a:t>+25%</a:t>
                      </a:r>
                    </a:p>
                  </a:txBody>
                  <a:tcPr/>
                </a:tc>
                <a:tc>
                  <a:txBody>
                    <a:bodyPr/>
                    <a:lstStyle/>
                    <a:p>
                      <a:pPr algn="ctr">
                        <a:defRPr sz="900"/>
                      </a:pPr>
                      <a:r>
                        <a:t>An 2</a:t>
                      </a:r>
                    </a:p>
                  </a:txBody>
                  <a:tcPr/>
                </a:tc>
              </a:tr>
              <a:tr h="342900">
                <a:tc>
                  <a:txBody>
                    <a:bodyPr/>
                    <a:lstStyle/>
                    <a:p>
                      <a:pPr>
                        <a:defRPr sz="900"/>
                      </a:pPr>
                      <a:r>
                        <a:t>Emplois directs crees</a:t>
                      </a:r>
                    </a:p>
                  </a:txBody>
                  <a:tcPr>
                    <a:solidFill>
                      <a:srgbClr val="E6F5E6"/>
                    </a:solidFill>
                  </a:tcPr>
                </a:tc>
                <a:tc>
                  <a:txBody>
                    <a:bodyPr/>
                    <a:lstStyle/>
                    <a:p>
                      <a:pPr algn="ctr">
                        <a:defRPr sz="900"/>
                      </a:pPr>
                      <a:r>
                        <a:t>15</a:t>
                      </a:r>
                    </a:p>
                  </a:txBody>
                  <a:tcPr>
                    <a:solidFill>
                      <a:srgbClr val="E6F5E6"/>
                    </a:solidFill>
                  </a:tcPr>
                </a:tc>
                <a:tc>
                  <a:txBody>
                    <a:bodyPr/>
                    <a:lstStyle/>
                    <a:p>
                      <a:pPr algn="ctr">
                        <a:defRPr sz="900"/>
                      </a:pPr>
                      <a:r>
                        <a:t>An 1</a:t>
                      </a:r>
                    </a:p>
                  </a:txBody>
                  <a:tcPr>
                    <a:solidFill>
                      <a:srgbClr val="E6F5E6"/>
                    </a:solidFill>
                  </a:tcPr>
                </a:tc>
              </a:tr>
              <a:tr h="342900">
                <a:tc>
                  <a:txBody>
                    <a:bodyPr/>
                    <a:lstStyle/>
                    <a:p>
                      <a:pPr>
                        <a:defRPr sz="900"/>
                      </a:pPr>
                      <a:r>
                        <a:t>Emplois indirects</a:t>
                      </a:r>
                    </a:p>
                  </a:txBody>
                  <a:tcPr/>
                </a:tc>
                <a:tc>
                  <a:txBody>
                    <a:bodyPr/>
                    <a:lstStyle/>
                    <a:p>
                      <a:pPr algn="ctr">
                        <a:defRPr sz="900"/>
                      </a:pPr>
                      <a:r>
                        <a:t>50+</a:t>
                      </a:r>
                    </a:p>
                  </a:txBody>
                  <a:tcPr/>
                </a:tc>
                <a:tc>
                  <a:txBody>
                    <a:bodyPr/>
                    <a:lstStyle/>
                    <a:p>
                      <a:pPr algn="ctr">
                        <a:defRPr sz="900"/>
                      </a:pPr>
                      <a:r>
                        <a:t>An 2</a:t>
                      </a:r>
                    </a:p>
                  </a:txBody>
                  <a:tcPr/>
                </a:tc>
              </a:tr>
            </a:tbl>
          </a:graphicData>
        </a:graphic>
      </p:graphicFrame>
      <p:sp>
        <p:nvSpPr>
          <p:cNvPr id="7" name="TextBox 6"/>
          <p:cNvSpPr txBox="1"/>
          <p:nvPr/>
        </p:nvSpPr>
        <p:spPr>
          <a:xfrm>
            <a:off x="6400800" y="1188720"/>
            <a:ext cx="5486400" cy="365760"/>
          </a:xfrm>
          <a:prstGeom prst="rect">
            <a:avLst/>
          </a:prstGeom>
          <a:noFill/>
        </p:spPr>
        <p:txBody>
          <a:bodyPr wrap="square">
            <a:spAutoFit/>
          </a:bodyPr>
          <a:lstStyle/>
          <a:p>
            <a:pPr algn="l">
              <a:defRPr sz="1600" b="1">
                <a:solidFill>
                  <a:srgbClr val="228B22"/>
                </a:solidFill>
                <a:latin typeface="Calibri"/>
              </a:defRPr>
            </a:pPr>
            <a:r>
              <a:t>Impact environnemental</a:t>
            </a:r>
          </a:p>
        </p:txBody>
      </p:sp>
      <p:graphicFrame>
        <p:nvGraphicFramePr>
          <p:cNvPr id="8" name="Table 7"/>
          <p:cNvGraphicFramePr>
            <a:graphicFrameLocks noGrp="1"/>
          </p:cNvGraphicFramePr>
          <p:nvPr/>
        </p:nvGraphicFramePr>
        <p:xfrm>
          <a:off x="6400800" y="1645920"/>
          <a:ext cx="5486400" cy="2286000"/>
        </p:xfrm>
        <a:graphic>
          <a:graphicData uri="http://schemas.openxmlformats.org/drawingml/2006/table">
            <a:tbl>
              <a:tblPr firstRow="1" bandRow="1">
                <a:tableStyleId>{5C22544A-7EE6-4342-B048-85BDC9FD1C3A}</a:tableStyleId>
              </a:tblPr>
              <a:tblGrid>
                <a:gridCol w="1828800"/>
                <a:gridCol w="1828800"/>
                <a:gridCol w="1828800"/>
              </a:tblGrid>
              <a:tr h="381000">
                <a:tc>
                  <a:txBody>
                    <a:bodyPr/>
                    <a:lstStyle/>
                    <a:p>
                      <a:pPr algn="ctr">
                        <a:defRPr sz="1000" b="1">
                          <a:solidFill>
                            <a:srgbClr val="FFFFFF"/>
                          </a:solidFill>
                        </a:defRPr>
                      </a:pPr>
                      <a:r>
                        <a:t>Indicateur</a:t>
                      </a:r>
                    </a:p>
                  </a:txBody>
                  <a:tcPr>
                    <a:solidFill>
                      <a:srgbClr val="228B22"/>
                    </a:solidFill>
                  </a:tcPr>
                </a:tc>
                <a:tc>
                  <a:txBody>
                    <a:bodyPr/>
                    <a:lstStyle/>
                    <a:p>
                      <a:pPr algn="ctr">
                        <a:defRPr sz="1000" b="1">
                          <a:solidFill>
                            <a:srgbClr val="FFFFFF"/>
                          </a:solidFill>
                        </a:defRPr>
                      </a:pPr>
                      <a:r>
                        <a:t>Objectif</a:t>
                      </a:r>
                    </a:p>
                  </a:txBody>
                  <a:tcPr>
                    <a:solidFill>
                      <a:srgbClr val="228B22"/>
                    </a:solidFill>
                  </a:tcPr>
                </a:tc>
                <a:tc>
                  <a:txBody>
                    <a:bodyPr/>
                    <a:lstStyle/>
                    <a:p>
                      <a:pPr algn="ctr">
                        <a:defRPr sz="1000" b="1">
                          <a:solidFill>
                            <a:srgbClr val="FFFFFF"/>
                          </a:solidFill>
                        </a:defRPr>
                      </a:pPr>
                      <a:r>
                        <a:t>Horizon</a:t>
                      </a:r>
                    </a:p>
                  </a:txBody>
                  <a:tcPr>
                    <a:solidFill>
                      <a:srgbClr val="228B22"/>
                    </a:solidFill>
                  </a:tcPr>
                </a:tc>
              </a:tr>
              <a:tr h="381000">
                <a:tc>
                  <a:txBody>
                    <a:bodyPr/>
                    <a:lstStyle/>
                    <a:p>
                      <a:pPr>
                        <a:defRPr sz="900"/>
                      </a:pPr>
                      <a:r>
                        <a:t>Reduction pertes post-recolte</a:t>
                      </a:r>
                    </a:p>
                  </a:txBody>
                  <a:tcPr/>
                </a:tc>
                <a:tc>
                  <a:txBody>
                    <a:bodyPr/>
                    <a:lstStyle/>
                    <a:p>
                      <a:pPr algn="ctr">
                        <a:defRPr sz="900"/>
                      </a:pPr>
                      <a:r>
                        <a:t>-30%</a:t>
                      </a:r>
                    </a:p>
                  </a:txBody>
                  <a:tcPr/>
                </a:tc>
                <a:tc>
                  <a:txBody>
                    <a:bodyPr/>
                    <a:lstStyle/>
                    <a:p>
                      <a:pPr algn="ctr">
                        <a:defRPr sz="900"/>
                      </a:pPr>
                      <a:r>
                        <a:t>An 1</a:t>
                      </a:r>
                    </a:p>
                  </a:txBody>
                  <a:tcPr/>
                </a:tc>
              </a:tr>
              <a:tr h="381000">
                <a:tc>
                  <a:txBody>
                    <a:bodyPr/>
                    <a:lstStyle/>
                    <a:p>
                      <a:pPr>
                        <a:defRPr sz="900"/>
                      </a:pPr>
                      <a:r>
                        <a:t>Tonnes de CO2 evitees</a:t>
                      </a:r>
                    </a:p>
                  </a:txBody>
                  <a:tcPr>
                    <a:solidFill>
                      <a:srgbClr val="E6F5E6"/>
                    </a:solidFill>
                  </a:tcPr>
                </a:tc>
                <a:tc>
                  <a:txBody>
                    <a:bodyPr/>
                    <a:lstStyle/>
                    <a:p>
                      <a:pPr algn="ctr">
                        <a:defRPr sz="900"/>
                      </a:pPr>
                      <a:r>
                        <a:t>50 tonnes</a:t>
                      </a:r>
                    </a:p>
                  </a:txBody>
                  <a:tcPr>
                    <a:solidFill>
                      <a:srgbClr val="E6F5E6"/>
                    </a:solidFill>
                  </a:tcPr>
                </a:tc>
                <a:tc>
                  <a:txBody>
                    <a:bodyPr/>
                    <a:lstStyle/>
                    <a:p>
                      <a:pPr algn="ctr">
                        <a:defRPr sz="900"/>
                      </a:pPr>
                      <a:r>
                        <a:t>An 1</a:t>
                      </a:r>
                    </a:p>
                  </a:txBody>
                  <a:tcPr>
                    <a:solidFill>
                      <a:srgbClr val="E6F5E6"/>
                    </a:solidFill>
                  </a:tcPr>
                </a:tc>
              </a:tr>
              <a:tr h="381000">
                <a:tc>
                  <a:txBody>
                    <a:bodyPr/>
                    <a:lstStyle/>
                    <a:p>
                      <a:pPr>
                        <a:defRPr sz="900"/>
                      </a:pPr>
                      <a:r>
                        <a:t>Energie solaire produite</a:t>
                      </a:r>
                    </a:p>
                  </a:txBody>
                  <a:tcPr/>
                </a:tc>
                <a:tc>
                  <a:txBody>
                    <a:bodyPr/>
                    <a:lstStyle/>
                    <a:p>
                      <a:pPr algn="ctr">
                        <a:defRPr sz="900"/>
                      </a:pPr>
                      <a:r>
                        <a:t>100% renouvelable</a:t>
                      </a:r>
                    </a:p>
                  </a:txBody>
                  <a:tcPr/>
                </a:tc>
                <a:tc>
                  <a:txBody>
                    <a:bodyPr/>
                    <a:lstStyle/>
                    <a:p>
                      <a:pPr algn="ctr">
                        <a:defRPr sz="900"/>
                      </a:pPr>
                      <a:r>
                        <a:t>Continu</a:t>
                      </a:r>
                    </a:p>
                  </a:txBody>
                  <a:tcPr/>
                </a:tc>
              </a:tr>
              <a:tr h="381000">
                <a:tc>
                  <a:txBody>
                    <a:bodyPr/>
                    <a:lstStyle/>
                    <a:p>
                      <a:pPr>
                        <a:defRPr sz="900"/>
                      </a:pPr>
                      <a:r>
                        <a:t>Kg de produits traces</a:t>
                      </a:r>
                    </a:p>
                  </a:txBody>
                  <a:tcPr>
                    <a:solidFill>
                      <a:srgbClr val="E6F5E6"/>
                    </a:solidFill>
                  </a:tcPr>
                </a:tc>
                <a:tc>
                  <a:txBody>
                    <a:bodyPr/>
                    <a:lstStyle/>
                    <a:p>
                      <a:pPr algn="ctr">
                        <a:defRPr sz="900"/>
                      </a:pPr>
                      <a:r>
                        <a:t>150 000 kg</a:t>
                      </a:r>
                    </a:p>
                  </a:txBody>
                  <a:tcPr>
                    <a:solidFill>
                      <a:srgbClr val="E6F5E6"/>
                    </a:solidFill>
                  </a:tcPr>
                </a:tc>
                <a:tc>
                  <a:txBody>
                    <a:bodyPr/>
                    <a:lstStyle/>
                    <a:p>
                      <a:pPr algn="ctr">
                        <a:defRPr sz="900"/>
                      </a:pPr>
                      <a:r>
                        <a:t>An 1</a:t>
                      </a:r>
                    </a:p>
                  </a:txBody>
                  <a:tcPr>
                    <a:solidFill>
                      <a:srgbClr val="E6F5E6"/>
                    </a:solidFill>
                  </a:tcPr>
                </a:tc>
              </a:tr>
              <a:tr h="381000">
                <a:tc>
                  <a:txBody>
                    <a:bodyPr/>
                    <a:lstStyle/>
                    <a:p>
                      <a:pPr>
                        <a:defRPr sz="900"/>
                      </a:pPr>
                      <a:r>
                        <a:t>Alertes anti-gaspillage</a:t>
                      </a:r>
                    </a:p>
                  </a:txBody>
                  <a:tcPr/>
                </a:tc>
                <a:tc>
                  <a:txBody>
                    <a:bodyPr/>
                    <a:lstStyle/>
                    <a:p>
                      <a:pPr algn="ctr">
                        <a:defRPr sz="900"/>
                      </a:pPr>
                      <a:r>
                        <a:t>500+</a:t>
                      </a:r>
                    </a:p>
                  </a:txBody>
                  <a:tcPr/>
                </a:tc>
                <a:tc>
                  <a:txBody>
                    <a:bodyPr/>
                    <a:lstStyle/>
                    <a:p>
                      <a:pPr algn="ctr">
                        <a:defRPr sz="900"/>
                      </a:pPr>
                      <a:r>
                        <a:t>An 1</a:t>
                      </a:r>
                    </a:p>
                  </a:txBody>
                  <a:tcPr/>
                </a:tc>
              </a:tr>
            </a:tbl>
          </a:graphicData>
        </a:graphic>
      </p:graphicFrame>
      <p:sp>
        <p:nvSpPr>
          <p:cNvPr id="9" name="TextBox 8"/>
          <p:cNvSpPr txBox="1"/>
          <p:nvPr/>
        </p:nvSpPr>
        <p:spPr>
          <a:xfrm>
            <a:off x="457200" y="4754880"/>
            <a:ext cx="10972800" cy="365760"/>
          </a:xfrm>
          <a:prstGeom prst="rect">
            <a:avLst/>
          </a:prstGeom>
          <a:noFill/>
        </p:spPr>
        <p:txBody>
          <a:bodyPr wrap="square">
            <a:spAutoFit/>
          </a:bodyPr>
          <a:lstStyle/>
          <a:p>
            <a:pPr algn="l">
              <a:defRPr sz="1300" b="1">
                <a:solidFill>
                  <a:srgbClr val="228B22"/>
                </a:solidFill>
                <a:latin typeface="Calibri"/>
              </a:defRPr>
            </a:pPr>
            <a:r>
              <a:t>Alignement avec les Objectifs de Developpement Durable (ODD)</a:t>
            </a:r>
          </a:p>
        </p:txBody>
      </p:sp>
      <p:sp>
        <p:nvSpPr>
          <p:cNvPr id="10" name="TextBox 9"/>
          <p:cNvSpPr txBox="1"/>
          <p:nvPr/>
        </p:nvSpPr>
        <p:spPr>
          <a:xfrm>
            <a:off x="457200" y="5212080"/>
            <a:ext cx="10972800" cy="1371600"/>
          </a:xfrm>
          <a:prstGeom prst="rect">
            <a:avLst/>
          </a:prstGeom>
          <a:noFill/>
        </p:spPr>
        <p:txBody>
          <a:bodyPr wrap="square">
            <a:spAutoFit/>
          </a:bodyPr>
          <a:lstStyle/>
          <a:p>
            <a:pPr>
              <a:spcAft>
                <a:spcPts val="600"/>
              </a:spcAft>
              <a:defRPr sz="1000">
                <a:solidFill>
                  <a:srgbClr val="1E1E1E"/>
                </a:solidFill>
                <a:latin typeface="Calibri"/>
              </a:defRPr>
              <a:buChar char="•"/>
            </a:pPr>
            <a:r>
              <a:t>ODD 1 - Pas de pauvrete : Acces au credit et amelioration des revenus</a:t>
            </a:r>
          </a:p>
          <a:p>
            <a:pPr>
              <a:spcAft>
                <a:spcPts val="600"/>
              </a:spcAft>
              <a:defRPr sz="1000">
                <a:solidFill>
                  <a:srgbClr val="1E1E1E"/>
                </a:solidFill>
                <a:latin typeface="Calibri"/>
              </a:defRPr>
              <a:buChar char="•"/>
            </a:pPr>
            <a:r>
              <a:t>ODD 2 - Faim zero : Reduction des pertes alimentaires</a:t>
            </a:r>
          </a:p>
          <a:p>
            <a:pPr>
              <a:spcAft>
                <a:spcPts val="600"/>
              </a:spcAft>
              <a:defRPr sz="1000">
                <a:solidFill>
                  <a:srgbClr val="1E1E1E"/>
                </a:solidFill>
                <a:latin typeface="Calibri"/>
              </a:defRPr>
              <a:buChar char="•"/>
            </a:pPr>
            <a:r>
              <a:t>ODD 5 - Egalite des sexes : Inclusion des femmes productrices (&gt;40%)</a:t>
            </a:r>
          </a:p>
          <a:p>
            <a:pPr>
              <a:spcAft>
                <a:spcPts val="600"/>
              </a:spcAft>
              <a:defRPr sz="1000">
                <a:solidFill>
                  <a:srgbClr val="1E1E1E"/>
                </a:solidFill>
                <a:latin typeface="Calibri"/>
              </a:defRPr>
              <a:buChar char="•"/>
            </a:pPr>
            <a:r>
              <a:t>ODD 7 - Energie propre : Hubs solaires 100% renouvelable</a:t>
            </a:r>
          </a:p>
          <a:p>
            <a:pPr>
              <a:spcAft>
                <a:spcPts val="600"/>
              </a:spcAft>
              <a:defRPr sz="1000">
                <a:solidFill>
                  <a:srgbClr val="1E1E1E"/>
                </a:solidFill>
                <a:latin typeface="Calibri"/>
              </a:defRPr>
              <a:buChar char="•"/>
            </a:pPr>
            <a:r>
              <a:t>ODD 12 - Consommation responsable : Tracabilite et anti-gaspillage</a:t>
            </a:r>
          </a:p>
          <a:p>
            <a:pPr>
              <a:spcAft>
                <a:spcPts val="600"/>
              </a:spcAft>
              <a:defRPr sz="1000">
                <a:solidFill>
                  <a:srgbClr val="1E1E1E"/>
                </a:solidFill>
                <a:latin typeface="Calibri"/>
              </a:defRPr>
              <a:buChar char="•"/>
            </a:pPr>
            <a:r>
              <a:t>ODD 13 - Action climatique : Reduction de l'empreinte carbone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11. STRATEGIE D'INNOVATION ET DE CROISSANCE</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
        <p:nvSpPr>
          <p:cNvPr id="5" name="TextBox 4"/>
          <p:cNvSpPr txBox="1"/>
          <p:nvPr/>
        </p:nvSpPr>
        <p:spPr>
          <a:xfrm>
            <a:off x="457200" y="1188720"/>
            <a:ext cx="5486400" cy="365760"/>
          </a:xfrm>
          <a:prstGeom prst="rect">
            <a:avLst/>
          </a:prstGeom>
          <a:noFill/>
        </p:spPr>
        <p:txBody>
          <a:bodyPr wrap="square">
            <a:spAutoFit/>
          </a:bodyPr>
          <a:lstStyle/>
          <a:p>
            <a:pPr algn="l">
              <a:defRPr sz="1400" b="1">
                <a:solidFill>
                  <a:srgbClr val="228B22"/>
                </a:solidFill>
                <a:latin typeface="Calibri"/>
              </a:defRPr>
            </a:pPr>
            <a:r>
              <a:t>Innovation technologique</a:t>
            </a:r>
          </a:p>
        </p:txBody>
      </p:sp>
      <p:sp>
        <p:nvSpPr>
          <p:cNvPr id="6" name="TextBox 5"/>
          <p:cNvSpPr txBox="1"/>
          <p:nvPr/>
        </p:nvSpPr>
        <p:spPr>
          <a:xfrm>
            <a:off x="457200" y="1645920"/>
            <a:ext cx="5029200" cy="1828800"/>
          </a:xfrm>
          <a:prstGeom prst="rect">
            <a:avLst/>
          </a:prstGeom>
          <a:noFill/>
        </p:spPr>
        <p:txBody>
          <a:bodyPr wrap="square">
            <a:spAutoFit/>
          </a:bodyPr>
          <a:lstStyle/>
          <a:p>
            <a:pPr>
              <a:spcAft>
                <a:spcPts val="600"/>
              </a:spcAft>
              <a:defRPr sz="1100">
                <a:solidFill>
                  <a:srgbClr val="1E1E1E"/>
                </a:solidFill>
                <a:latin typeface="Calibri"/>
              </a:defRPr>
              <a:buChar char="•"/>
            </a:pPr>
            <a:r>
              <a:t>IA predictive pour l'optimisation des prix et la prevision de la demande</a:t>
            </a:r>
          </a:p>
          <a:p>
            <a:pPr>
              <a:spcAft>
                <a:spcPts val="600"/>
              </a:spcAft>
              <a:defRPr sz="1100">
                <a:solidFill>
                  <a:srgbClr val="1E1E1E"/>
                </a:solidFill>
                <a:latin typeface="Calibri"/>
              </a:defRPr>
              <a:buChar char="•"/>
            </a:pPr>
            <a:r>
              <a:t>IoT avance avec capteurs de qualite (humidite, ethylene) dans les hubs</a:t>
            </a:r>
          </a:p>
          <a:p>
            <a:pPr>
              <a:spcAft>
                <a:spcPts val="600"/>
              </a:spcAft>
              <a:defRPr sz="1100">
                <a:solidFill>
                  <a:srgbClr val="1E1E1E"/>
                </a:solidFill>
                <a:latin typeface="Calibri"/>
              </a:defRPr>
              <a:buChar char="•"/>
            </a:pPr>
            <a:r>
              <a:t>Blockchain pour la certification d'origine des produits</a:t>
            </a:r>
          </a:p>
          <a:p>
            <a:pPr>
              <a:spcAft>
                <a:spcPts val="600"/>
              </a:spcAft>
              <a:defRPr sz="1100">
                <a:solidFill>
                  <a:srgbClr val="1E1E1E"/>
                </a:solidFill>
                <a:latin typeface="Calibri"/>
              </a:defRPr>
              <a:buChar char="•"/>
            </a:pPr>
            <a:r>
              <a:t>Machine learning pour le scoring de credit plus precis</a:t>
            </a:r>
          </a:p>
        </p:txBody>
      </p:sp>
      <p:sp>
        <p:nvSpPr>
          <p:cNvPr id="7" name="TextBox 6"/>
          <p:cNvSpPr txBox="1"/>
          <p:nvPr/>
        </p:nvSpPr>
        <p:spPr>
          <a:xfrm>
            <a:off x="6400800" y="1188720"/>
            <a:ext cx="5486400" cy="365760"/>
          </a:xfrm>
          <a:prstGeom prst="rect">
            <a:avLst/>
          </a:prstGeom>
          <a:noFill/>
        </p:spPr>
        <p:txBody>
          <a:bodyPr wrap="square">
            <a:spAutoFit/>
          </a:bodyPr>
          <a:lstStyle/>
          <a:p>
            <a:pPr algn="l">
              <a:defRPr sz="1400" b="1">
                <a:solidFill>
                  <a:srgbClr val="228B22"/>
                </a:solidFill>
                <a:latin typeface="Calibri"/>
              </a:defRPr>
            </a:pPr>
            <a:r>
              <a:t>Strategie de croissance</a:t>
            </a:r>
          </a:p>
        </p:txBody>
      </p:sp>
      <p:sp>
        <p:nvSpPr>
          <p:cNvPr id="8" name="TextBox 7"/>
          <p:cNvSpPr txBox="1"/>
          <p:nvPr/>
        </p:nvSpPr>
        <p:spPr>
          <a:xfrm>
            <a:off x="6400800" y="1645920"/>
            <a:ext cx="5029200" cy="1828800"/>
          </a:xfrm>
          <a:prstGeom prst="rect">
            <a:avLst/>
          </a:prstGeom>
          <a:noFill/>
        </p:spPr>
        <p:txBody>
          <a:bodyPr wrap="square">
            <a:spAutoFit/>
          </a:bodyPr>
          <a:lstStyle/>
          <a:p>
            <a:pPr>
              <a:spcAft>
                <a:spcPts val="600"/>
              </a:spcAft>
              <a:defRPr sz="1100">
                <a:solidFill>
                  <a:srgbClr val="1E1E1E"/>
                </a:solidFill>
                <a:latin typeface="Calibri"/>
              </a:defRPr>
              <a:buChar char="•"/>
            </a:pPr>
            <a:r>
              <a:t>Phase 1 (An 1) : Pilote dans 4 regions avec 3 cooperatives partenaires</a:t>
            </a:r>
          </a:p>
          <a:p>
            <a:pPr>
              <a:spcAft>
                <a:spcPts val="600"/>
              </a:spcAft>
              <a:defRPr sz="1100">
                <a:solidFill>
                  <a:srgbClr val="1E1E1E"/>
                </a:solidFill>
                <a:latin typeface="Calibri"/>
              </a:defRPr>
              <a:buChar char="•"/>
            </a:pPr>
            <a:r>
              <a:t>Phase 2 (An 2) : Extension a 6 regions, partenariats avec SFD et banques</a:t>
            </a:r>
          </a:p>
          <a:p>
            <a:pPr>
              <a:spcAft>
                <a:spcPts val="600"/>
              </a:spcAft>
              <a:defRPr sz="1100">
                <a:solidFill>
                  <a:srgbClr val="1E1E1E"/>
                </a:solidFill>
                <a:latin typeface="Calibri"/>
              </a:defRPr>
              <a:buChar char="•"/>
            </a:pPr>
            <a:r>
              <a:t>Phase 3 (An 3) : Couverture nationale, ouverture a l'export sous-regional</a:t>
            </a:r>
          </a:p>
          <a:p>
            <a:pPr>
              <a:spcAft>
                <a:spcPts val="600"/>
              </a:spcAft>
              <a:defRPr sz="1100">
                <a:solidFill>
                  <a:srgbClr val="1E1E1E"/>
                </a:solidFill>
                <a:latin typeface="Calibri"/>
              </a:defRPr>
              <a:buChar char="•"/>
            </a:pPr>
            <a:r>
              <a:t>Phase 4 (An 4+) : Expansion Afrique de l'Ouest (Mali, Guinee, Gambie)</a:t>
            </a:r>
          </a:p>
        </p:txBody>
      </p:sp>
      <p:sp>
        <p:nvSpPr>
          <p:cNvPr id="9" name="TextBox 8"/>
          <p:cNvSpPr txBox="1"/>
          <p:nvPr/>
        </p:nvSpPr>
        <p:spPr>
          <a:xfrm>
            <a:off x="457200" y="3840480"/>
            <a:ext cx="10972800" cy="365760"/>
          </a:xfrm>
          <a:prstGeom prst="rect">
            <a:avLst/>
          </a:prstGeom>
          <a:noFill/>
        </p:spPr>
        <p:txBody>
          <a:bodyPr wrap="square">
            <a:spAutoFit/>
          </a:bodyPr>
          <a:lstStyle/>
          <a:p>
            <a:pPr algn="l">
              <a:defRPr sz="1400" b="1">
                <a:solidFill>
                  <a:srgbClr val="228B22"/>
                </a:solidFill>
                <a:latin typeface="Calibri"/>
              </a:defRPr>
            </a:pPr>
            <a:r>
              <a:t>Partenariats strategiques</a:t>
            </a:r>
          </a:p>
        </p:txBody>
      </p:sp>
      <p:sp>
        <p:nvSpPr>
          <p:cNvPr id="10" name="TextBox 9"/>
          <p:cNvSpPr txBox="1"/>
          <p:nvPr/>
        </p:nvSpPr>
        <p:spPr>
          <a:xfrm>
            <a:off x="457200" y="4297680"/>
            <a:ext cx="10972800" cy="1828800"/>
          </a:xfrm>
          <a:prstGeom prst="rect">
            <a:avLst/>
          </a:prstGeom>
          <a:noFill/>
        </p:spPr>
        <p:txBody>
          <a:bodyPr wrap="square">
            <a:spAutoFit/>
          </a:bodyPr>
          <a:lstStyle/>
          <a:p>
            <a:pPr>
              <a:spcAft>
                <a:spcPts val="600"/>
              </a:spcAft>
              <a:defRPr sz="1100">
                <a:solidFill>
                  <a:srgbClr val="1E1E1E"/>
                </a:solidFill>
                <a:latin typeface="Calibri"/>
              </a:defRPr>
              <a:buChar char="•"/>
            </a:pPr>
            <a:r>
              <a:t>Operateurs telecom : Orange, Free pour l'infrastructure USSD</a:t>
            </a:r>
          </a:p>
          <a:p>
            <a:pPr>
              <a:spcAft>
                <a:spcPts val="600"/>
              </a:spcAft>
              <a:defRPr sz="1100">
                <a:solidFill>
                  <a:srgbClr val="1E1E1E"/>
                </a:solidFill>
                <a:latin typeface="Calibri"/>
              </a:defRPr>
              <a:buChar char="•"/>
            </a:pPr>
            <a:r>
              <a:t>Fintechs : Wave, PayDunya pour l'orchestration des paiements</a:t>
            </a:r>
          </a:p>
          <a:p>
            <a:pPr>
              <a:spcAft>
                <a:spcPts val="600"/>
              </a:spcAft>
              <a:defRPr sz="1100">
                <a:solidFill>
                  <a:srgbClr val="1E1E1E"/>
                </a:solidFill>
                <a:latin typeface="Calibri"/>
              </a:defRPr>
              <a:buChar char="•"/>
            </a:pPr>
            <a:r>
              <a:t>Institutions : POESAM, ministere de l'Agriculture, SAED</a:t>
            </a:r>
          </a:p>
          <a:p>
            <a:pPr>
              <a:spcAft>
                <a:spcPts val="600"/>
              </a:spcAft>
              <a:defRPr sz="1100">
                <a:solidFill>
                  <a:srgbClr val="1E1E1E"/>
                </a:solidFill>
                <a:latin typeface="Calibri"/>
              </a:defRPr>
              <a:buChar char="•"/>
            </a:pPr>
            <a:r>
              <a:t>ONG : FAO, PAM pour le co-financement et l'expertise terrain</a:t>
            </a:r>
          </a:p>
          <a:p>
            <a:pPr>
              <a:spcAft>
                <a:spcPts val="600"/>
              </a:spcAft>
              <a:defRPr sz="1100">
                <a:solidFill>
                  <a:srgbClr val="1E1E1E"/>
                </a:solidFill>
                <a:latin typeface="Calibri"/>
              </a:defRPr>
              <a:buChar char="•"/>
            </a:pPr>
            <a:r>
              <a:t>Banques/SFD : CMS, PAMECAS pour le credit aux producteurs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0972800" cy="457200"/>
          </a:xfrm>
          <a:prstGeom prst="rect">
            <a:avLst/>
          </a:prstGeom>
          <a:noFill/>
        </p:spPr>
        <p:txBody>
          <a:bodyPr wrap="square">
            <a:spAutoFit/>
          </a:bodyPr>
          <a:lstStyle/>
          <a:p>
            <a:pPr algn="l">
              <a:defRPr sz="2200" b="1">
                <a:solidFill>
                  <a:srgbClr val="FFFFFF"/>
                </a:solidFill>
                <a:latin typeface="Calibri"/>
              </a:defRPr>
            </a:pPr>
            <a:r>
              <a:t>12. OBJECTIFS DU PILOTE POESAM</a:t>
            </a:r>
          </a:p>
        </p:txBody>
      </p:sp>
      <p:sp>
        <p:nvSpPr>
          <p:cNvPr id="4" name="TextBox 3"/>
          <p:cNvSpPr txBox="1"/>
          <p:nvPr/>
        </p:nvSpPr>
        <p:spPr>
          <a:xfrm>
            <a:off x="0" y="6400800"/>
            <a:ext cx="12191695" cy="36576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graphicFrame>
        <p:nvGraphicFramePr>
          <p:cNvPr id="5" name="Table 4"/>
          <p:cNvGraphicFramePr>
            <a:graphicFrameLocks noGrp="1"/>
          </p:cNvGraphicFramePr>
          <p:nvPr/>
        </p:nvGraphicFramePr>
        <p:xfrm>
          <a:off x="1371600" y="1645920"/>
          <a:ext cx="9144000" cy="3200400"/>
        </p:xfrm>
        <a:graphic>
          <a:graphicData uri="http://schemas.openxmlformats.org/drawingml/2006/table">
            <a:tbl>
              <a:tblPr firstRow="1" bandRow="1">
                <a:tableStyleId>{5C22544A-7EE6-4342-B048-85BDC9FD1C3A}</a:tableStyleId>
              </a:tblPr>
              <a:tblGrid>
                <a:gridCol w="3048000"/>
                <a:gridCol w="3048000"/>
                <a:gridCol w="3048000"/>
              </a:tblGrid>
              <a:tr h="400050">
                <a:tc>
                  <a:txBody>
                    <a:bodyPr/>
                    <a:lstStyle/>
                    <a:p>
                      <a:pPr algn="ctr">
                        <a:defRPr sz="1000" b="1">
                          <a:solidFill>
                            <a:srgbClr val="FFFFFF"/>
                          </a:solidFill>
                        </a:defRPr>
                      </a:pPr>
                      <a:r>
                        <a:t>Indicateur</a:t>
                      </a:r>
                    </a:p>
                  </a:txBody>
                  <a:tcPr>
                    <a:solidFill>
                      <a:srgbClr val="228B22"/>
                    </a:solidFill>
                  </a:tcPr>
                </a:tc>
                <a:tc>
                  <a:txBody>
                    <a:bodyPr/>
                    <a:lstStyle/>
                    <a:p>
                      <a:pPr algn="ctr">
                        <a:defRPr sz="1000" b="1">
                          <a:solidFill>
                            <a:srgbClr val="FFFFFF"/>
                          </a:solidFill>
                        </a:defRPr>
                      </a:pPr>
                      <a:r>
                        <a:t>Objectif</a:t>
                      </a:r>
                    </a:p>
                  </a:txBody>
                  <a:tcPr>
                    <a:solidFill>
                      <a:srgbClr val="228B22"/>
                    </a:solidFill>
                  </a:tcPr>
                </a:tc>
                <a:tc>
                  <a:txBody>
                    <a:bodyPr/>
                    <a:lstStyle/>
                    <a:p>
                      <a:pPr algn="ctr">
                        <a:defRPr sz="1000" b="1">
                          <a:solidFill>
                            <a:srgbClr val="FFFFFF"/>
                          </a:solidFill>
                        </a:defRPr>
                      </a:pPr>
                      <a:r>
                        <a:t>Horizon</a:t>
                      </a:r>
                    </a:p>
                  </a:txBody>
                  <a:tcPr>
                    <a:solidFill>
                      <a:srgbClr val="228B22"/>
                    </a:solidFill>
                  </a:tcPr>
                </a:tc>
              </a:tr>
              <a:tr h="400050">
                <a:tc>
                  <a:txBody>
                    <a:bodyPr/>
                    <a:lstStyle/>
                    <a:p>
                      <a:pPr>
                        <a:defRPr sz="900"/>
                      </a:pPr>
                      <a:r>
                        <a:t>Producteurs inscrits</a:t>
                      </a:r>
                    </a:p>
                  </a:txBody>
                  <a:tcPr/>
                </a:tc>
                <a:tc>
                  <a:txBody>
                    <a:bodyPr/>
                    <a:lstStyle/>
                    <a:p>
                      <a:pPr algn="ctr">
                        <a:defRPr sz="900"/>
                      </a:pPr>
                      <a:r>
                        <a:t>100</a:t>
                      </a:r>
                    </a:p>
                  </a:txBody>
                  <a:tcPr/>
                </a:tc>
                <a:tc>
                  <a:txBody>
                    <a:bodyPr/>
                    <a:lstStyle/>
                    <a:p>
                      <a:pPr algn="ctr">
                        <a:defRPr sz="900"/>
                      </a:pPr>
                      <a:r>
                        <a:t>12 mois</a:t>
                      </a:r>
                    </a:p>
                  </a:txBody>
                  <a:tcPr/>
                </a:tc>
              </a:tr>
              <a:tr h="400050">
                <a:tc>
                  <a:txBody>
                    <a:bodyPr/>
                    <a:lstStyle/>
                    <a:p>
                      <a:pPr>
                        <a:defRPr sz="900"/>
                      </a:pPr>
                      <a:r>
                        <a:t>Lots traces avec QR</a:t>
                      </a:r>
                    </a:p>
                  </a:txBody>
                  <a:tcPr>
                    <a:solidFill>
                      <a:srgbClr val="E6F5E6"/>
                    </a:solidFill>
                  </a:tcPr>
                </a:tc>
                <a:tc>
                  <a:txBody>
                    <a:bodyPr/>
                    <a:lstStyle/>
                    <a:p>
                      <a:pPr algn="ctr">
                        <a:defRPr sz="900"/>
                      </a:pPr>
                      <a:r>
                        <a:t>300</a:t>
                      </a:r>
                    </a:p>
                  </a:txBody>
                  <a:tcPr>
                    <a:solidFill>
                      <a:srgbClr val="E6F5E6"/>
                    </a:solidFill>
                  </a:tcPr>
                </a:tc>
                <a:tc>
                  <a:txBody>
                    <a:bodyPr/>
                    <a:lstStyle/>
                    <a:p>
                      <a:pPr algn="ctr">
                        <a:defRPr sz="900"/>
                      </a:pPr>
                      <a:r>
                        <a:t>12 mois</a:t>
                      </a:r>
                    </a:p>
                  </a:txBody>
                  <a:tcPr>
                    <a:solidFill>
                      <a:srgbClr val="E6F5E6"/>
                    </a:solidFill>
                  </a:tcPr>
                </a:tc>
              </a:tr>
              <a:tr h="400050">
                <a:tc>
                  <a:txBody>
                    <a:bodyPr/>
                    <a:lstStyle/>
                    <a:p>
                      <a:pPr>
                        <a:defRPr sz="900"/>
                      </a:pPr>
                      <a:r>
                        <a:t>Commandes B2B confirmees</a:t>
                      </a:r>
                    </a:p>
                  </a:txBody>
                  <a:tcPr/>
                </a:tc>
                <a:tc>
                  <a:txBody>
                    <a:bodyPr/>
                    <a:lstStyle/>
                    <a:p>
                      <a:pPr algn="ctr">
                        <a:defRPr sz="900"/>
                      </a:pPr>
                      <a:r>
                        <a:t>150</a:t>
                      </a:r>
                    </a:p>
                  </a:txBody>
                  <a:tcPr/>
                </a:tc>
                <a:tc>
                  <a:txBody>
                    <a:bodyPr/>
                    <a:lstStyle/>
                    <a:p>
                      <a:pPr algn="ctr">
                        <a:defRPr sz="900"/>
                      </a:pPr>
                      <a:r>
                        <a:t>12 mois</a:t>
                      </a:r>
                    </a:p>
                  </a:txBody>
                  <a:tcPr/>
                </a:tc>
              </a:tr>
              <a:tr h="400050">
                <a:tc>
                  <a:txBody>
                    <a:bodyPr/>
                    <a:lstStyle/>
                    <a:p>
                      <a:pPr>
                        <a:defRPr sz="900"/>
                      </a:pPr>
                      <a:r>
                        <a:t>Paiements via partenaires</a:t>
                      </a:r>
                    </a:p>
                  </a:txBody>
                  <a:tcPr>
                    <a:solidFill>
                      <a:srgbClr val="E6F5E6"/>
                    </a:solidFill>
                  </a:tcPr>
                </a:tc>
                <a:tc>
                  <a:txBody>
                    <a:bodyPr/>
                    <a:lstStyle/>
                    <a:p>
                      <a:pPr algn="ctr">
                        <a:defRPr sz="900"/>
                      </a:pPr>
                      <a:r>
                        <a:t>100</a:t>
                      </a:r>
                    </a:p>
                  </a:txBody>
                  <a:tcPr>
                    <a:solidFill>
                      <a:srgbClr val="E6F5E6"/>
                    </a:solidFill>
                  </a:tcPr>
                </a:tc>
                <a:tc>
                  <a:txBody>
                    <a:bodyPr/>
                    <a:lstStyle/>
                    <a:p>
                      <a:pPr algn="ctr">
                        <a:defRPr sz="900"/>
                      </a:pPr>
                      <a:r>
                        <a:t>12 mois</a:t>
                      </a:r>
                    </a:p>
                  </a:txBody>
                  <a:tcPr>
                    <a:solidFill>
                      <a:srgbClr val="E6F5E6"/>
                    </a:solidFill>
                  </a:tcPr>
                </a:tc>
              </a:tr>
              <a:tr h="400050">
                <a:tc>
                  <a:txBody>
                    <a:bodyPr/>
                    <a:lstStyle/>
                    <a:p>
                      <a:pPr>
                        <a:defRPr sz="900"/>
                      </a:pPr>
                      <a:r>
                        <a:t>Preuves economiques exportees</a:t>
                      </a:r>
                    </a:p>
                  </a:txBody>
                  <a:tcPr/>
                </a:tc>
                <a:tc>
                  <a:txBody>
                    <a:bodyPr/>
                    <a:lstStyle/>
                    <a:p>
                      <a:pPr algn="ctr">
                        <a:defRPr sz="900"/>
                      </a:pPr>
                      <a:r>
                        <a:t>100</a:t>
                      </a:r>
                    </a:p>
                  </a:txBody>
                  <a:tcPr/>
                </a:tc>
                <a:tc>
                  <a:txBody>
                    <a:bodyPr/>
                    <a:lstStyle/>
                    <a:p>
                      <a:pPr algn="ctr">
                        <a:defRPr sz="900"/>
                      </a:pPr>
                      <a:r>
                        <a:t>12 mois</a:t>
                      </a:r>
                    </a:p>
                  </a:txBody>
                  <a:tcPr/>
                </a:tc>
              </a:tr>
              <a:tr h="400050">
                <a:tc>
                  <a:txBody>
                    <a:bodyPr/>
                    <a:lstStyle/>
                    <a:p>
                      <a:pPr>
                        <a:defRPr sz="900"/>
                      </a:pPr>
                      <a:r>
                        <a:t>Acheteurs B2B actifs</a:t>
                      </a:r>
                    </a:p>
                  </a:txBody>
                  <a:tcPr>
                    <a:solidFill>
                      <a:srgbClr val="E6F5E6"/>
                    </a:solidFill>
                  </a:tcPr>
                </a:tc>
                <a:tc>
                  <a:txBody>
                    <a:bodyPr/>
                    <a:lstStyle/>
                    <a:p>
                      <a:pPr algn="ctr">
                        <a:defRPr sz="900"/>
                      </a:pPr>
                      <a:r>
                        <a:t>20</a:t>
                      </a:r>
                    </a:p>
                  </a:txBody>
                  <a:tcPr>
                    <a:solidFill>
                      <a:srgbClr val="E6F5E6"/>
                    </a:solidFill>
                  </a:tcPr>
                </a:tc>
                <a:tc>
                  <a:txBody>
                    <a:bodyPr/>
                    <a:lstStyle/>
                    <a:p>
                      <a:pPr algn="ctr">
                        <a:defRPr sz="900"/>
                      </a:pPr>
                      <a:r>
                        <a:t>12 mois</a:t>
                      </a:r>
                    </a:p>
                  </a:txBody>
                  <a:tcPr>
                    <a:solidFill>
                      <a:srgbClr val="E6F5E6"/>
                    </a:solidFill>
                  </a:tcPr>
                </a:tc>
              </a:tr>
              <a:tr h="400050">
                <a:tc>
                  <a:txBody>
                    <a:bodyPr/>
                    <a:lstStyle/>
                    <a:p>
                      <a:pPr>
                        <a:defRPr sz="900"/>
                      </a:pPr>
                      <a:r>
                        <a:t>Cooperatives pilotes</a:t>
                      </a:r>
                    </a:p>
                  </a:txBody>
                  <a:tcPr/>
                </a:tc>
                <a:tc>
                  <a:txBody>
                    <a:bodyPr/>
                    <a:lstStyle/>
                    <a:p>
                      <a:pPr algn="ctr">
                        <a:defRPr sz="900"/>
                      </a:pPr>
                      <a:r>
                        <a:t>3</a:t>
                      </a:r>
                    </a:p>
                  </a:txBody>
                  <a:tcPr/>
                </a:tc>
                <a:tc>
                  <a:txBody>
                    <a:bodyPr/>
                    <a:lstStyle/>
                    <a:p>
                      <a:pPr algn="ctr">
                        <a:defRPr sz="900"/>
                      </a:pPr>
                      <a:r>
                        <a:t>12 mois</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286000"/>
            <a:ext cx="12191695" cy="274320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914400"/>
            <a:ext cx="12191695" cy="914400"/>
          </a:xfrm>
          <a:prstGeom prst="rect">
            <a:avLst/>
          </a:prstGeom>
          <a:noFill/>
        </p:spPr>
        <p:txBody>
          <a:bodyPr wrap="square">
            <a:spAutoFit/>
          </a:bodyPr>
          <a:lstStyle/>
          <a:p>
            <a:pPr algn="ctr">
              <a:defRPr sz="3200" b="1">
                <a:solidFill>
                  <a:srgbClr val="228B22"/>
                </a:solidFill>
                <a:latin typeface="Calibri"/>
              </a:defRPr>
            </a:pPr>
            <a:r>
              <a:t>CONCLUSION</a:t>
            </a:r>
          </a:p>
        </p:txBody>
      </p:sp>
      <p:sp>
        <p:nvSpPr>
          <p:cNvPr id="4" name="TextBox 3"/>
          <p:cNvSpPr txBox="1"/>
          <p:nvPr/>
        </p:nvSpPr>
        <p:spPr>
          <a:xfrm>
            <a:off x="914400" y="1645920"/>
            <a:ext cx="10362895" cy="731520"/>
          </a:xfrm>
          <a:prstGeom prst="rect">
            <a:avLst/>
          </a:prstGeom>
          <a:noFill/>
        </p:spPr>
        <p:txBody>
          <a:bodyPr wrap="square">
            <a:spAutoFit/>
          </a:bodyPr>
          <a:lstStyle/>
          <a:p>
            <a:pPr algn="ctr">
              <a:defRPr sz="1400" b="0">
                <a:solidFill>
                  <a:srgbClr val="3C3C3C"/>
                </a:solidFill>
                <a:latin typeface="Calibri"/>
              </a:defRPr>
            </a:pPr>
            <a:r>
              <a:t>FreshCoop represente une opportunite unique de transformer la chaine de valeur agricole senegalaise en combinant technologie, inclusion financiere et durabilite.</a:t>
            </a:r>
          </a:p>
        </p:txBody>
      </p:sp>
      <p:sp>
        <p:nvSpPr>
          <p:cNvPr id="5" name="TextBox 4"/>
          <p:cNvSpPr txBox="1"/>
          <p:nvPr/>
        </p:nvSpPr>
        <p:spPr>
          <a:xfrm>
            <a:off x="0" y="2468880"/>
            <a:ext cx="12191695" cy="640080"/>
          </a:xfrm>
          <a:prstGeom prst="rect">
            <a:avLst/>
          </a:prstGeom>
          <a:noFill/>
        </p:spPr>
        <p:txBody>
          <a:bodyPr wrap="square">
            <a:spAutoFit/>
          </a:bodyPr>
          <a:lstStyle/>
          <a:p>
            <a:pPr algn="ctr">
              <a:defRPr sz="2800" b="1">
                <a:solidFill>
                  <a:srgbClr val="FFFFFF"/>
                </a:solidFill>
                <a:latin typeface="Calibri"/>
              </a:defRPr>
            </a:pPr>
            <a:r>
              <a:t>FreshCoop - Connecter. Conserver. Financer.</a:t>
            </a:r>
          </a:p>
        </p:txBody>
      </p:sp>
      <p:sp>
        <p:nvSpPr>
          <p:cNvPr id="6" name="TextBox 5"/>
          <p:cNvSpPr txBox="1"/>
          <p:nvPr/>
        </p:nvSpPr>
        <p:spPr>
          <a:xfrm>
            <a:off x="0" y="3108960"/>
            <a:ext cx="12191695" cy="457200"/>
          </a:xfrm>
          <a:prstGeom prst="rect">
            <a:avLst/>
          </a:prstGeom>
          <a:noFill/>
        </p:spPr>
        <p:txBody>
          <a:bodyPr wrap="square">
            <a:spAutoFit/>
          </a:bodyPr>
          <a:lstStyle/>
          <a:p>
            <a:pPr algn="ctr">
              <a:defRPr sz="1400" b="0">
                <a:solidFill>
                  <a:srgbClr val="FFFFFF"/>
                </a:solidFill>
                <a:latin typeface="Calibri"/>
              </a:defRPr>
            </a:pPr>
            <a:r>
              <a:t>Micro-hubs solaires  |  Intelligence marche  |  Preuve economique</a:t>
            </a:r>
          </a:p>
        </p:txBody>
      </p:sp>
      <p:sp>
        <p:nvSpPr>
          <p:cNvPr id="7" name="TextBox 6"/>
          <p:cNvSpPr txBox="1"/>
          <p:nvPr/>
        </p:nvSpPr>
        <p:spPr>
          <a:xfrm>
            <a:off x="0" y="4572000"/>
            <a:ext cx="12191695" cy="548640"/>
          </a:xfrm>
          <a:prstGeom prst="rect">
            <a:avLst/>
          </a:prstGeom>
          <a:noFill/>
        </p:spPr>
        <p:txBody>
          <a:bodyPr wrap="square">
            <a:spAutoFit/>
          </a:bodyPr>
          <a:lstStyle/>
          <a:p>
            <a:pPr algn="ctr">
              <a:defRPr sz="1800" b="1">
                <a:solidFill>
                  <a:srgbClr val="1E1E1E"/>
                </a:solidFill>
                <a:latin typeface="Calibri"/>
              </a:defRPr>
            </a:pPr>
            <a:r>
              <a:t>Pret a passer a l'echelle avec le soutien de POESAM.</a:t>
            </a:r>
          </a:p>
        </p:txBody>
      </p:sp>
      <p:sp>
        <p:nvSpPr>
          <p:cNvPr id="8" name="TextBox 7"/>
          <p:cNvSpPr txBox="1"/>
          <p:nvPr/>
        </p:nvSpPr>
        <p:spPr>
          <a:xfrm>
            <a:off x="0" y="5486400"/>
            <a:ext cx="12191695" cy="274320"/>
          </a:xfrm>
          <a:prstGeom prst="rect">
            <a:avLst/>
          </a:prstGeom>
          <a:noFill/>
        </p:spPr>
        <p:txBody>
          <a:bodyPr wrap="square">
            <a:spAutoFit/>
          </a:bodyPr>
          <a:lstStyle/>
          <a:p>
            <a:pPr algn="ctr">
              <a:defRPr sz="1100" b="0">
                <a:solidFill>
                  <a:srgbClr val="646464"/>
                </a:solidFill>
                <a:latin typeface="Calibri"/>
              </a:defRPr>
            </a:pPr>
            <a:r>
              <a:t>contact@freshcoop.sn  |  Dakar, Senegal  |  POESAM 2026</a:t>
            </a:r>
          </a:p>
        </p:txBody>
      </p:sp>
      <p:sp>
        <p:nvSpPr>
          <p:cNvPr id="9" name="TextBox 8"/>
          <p:cNvSpPr txBox="1"/>
          <p:nvPr/>
        </p:nvSpPr>
        <p:spPr>
          <a:xfrm>
            <a:off x="0" y="5943600"/>
            <a:ext cx="12191695" cy="274320"/>
          </a:xfrm>
          <a:prstGeom prst="rect">
            <a:avLst/>
          </a:prstGeom>
          <a:noFill/>
        </p:spPr>
        <p:txBody>
          <a:bodyPr wrap="square">
            <a:spAutoFit/>
          </a:bodyPr>
          <a:lstStyle/>
          <a:p>
            <a:pPr algn="ctr">
              <a:defRPr sz="800" b="0">
                <a:solidFill>
                  <a:srgbClr val="969696"/>
                </a:solidFill>
                <a:latin typeface="Calibri"/>
              </a:defRPr>
            </a:pPr>
            <a:r>
              <a:t>FreshCoop  |  Dossier POESAM 2026  |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